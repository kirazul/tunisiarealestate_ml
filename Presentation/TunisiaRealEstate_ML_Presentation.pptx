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barChart>
        <c:barDir val="col"/>
        <c:grouping val="clustered"/>
        <c:varyColors val="0"/>
        <c:ser>
          <c:idx val="0"/>
          <c:order val="0"/>
          <c:tx>
            <c:strRef>
              <c:f>Sheet1!$B$1</c:f>
              <c:strCache>
                <c:ptCount val="1"/>
                <c:pt idx="0">
                  <c:v>Validation R²</c:v>
                </c:pt>
              </c:strCache>
            </c:strRef>
          </c:tx>
          <c:spPr>
            <a:solidFill>
              <a:srgbClr val="444444"/>
            </a:solidFill>
            <a:effectLst/>
          </c:spPr>
          <c:invertIfNegative val="0"/>
          <c:dPt>
            <c:idx val="0"/>
            <c:invertIfNegative val="0"/>
            <c:bubble3D val="0"/>
            <c:spPr>
              <a:solidFill>
                <a:srgbClr val="444444"/>
              </a:solidFill>
              <a:effectLst/>
            </c:spPr>
            <c:extLst>
              <c:ext xmlns:c16="http://schemas.microsoft.com/office/drawing/2014/chart" uri="{C3380CC4-5D6E-409C-BE32-E72D297353CC}">
                <c16:uniqueId val="{00000001-4640-4EFF-A07E-28CB542D2896}"/>
              </c:ext>
            </c:extLst>
          </c:dPt>
          <c:dPt>
            <c:idx val="1"/>
            <c:invertIfNegative val="0"/>
            <c:bubble3D val="0"/>
            <c:spPr>
              <a:solidFill>
                <a:srgbClr val="CC0000"/>
              </a:solidFill>
              <a:effectLst/>
            </c:spPr>
            <c:extLst>
              <c:ext xmlns:c16="http://schemas.microsoft.com/office/drawing/2014/chart" uri="{C3380CC4-5D6E-409C-BE32-E72D297353CC}">
                <c16:uniqueId val="{00000003-4640-4EFF-A07E-28CB542D2896}"/>
              </c:ext>
            </c:extLst>
          </c:dPt>
          <c:cat>
            <c:strRef>
              <c:f>Sheet1!$A$2:$A$3</c:f>
              <c:strCache>
                <c:ptCount val="2"/>
                <c:pt idx="0">
                  <c:v>Random Forest</c:v>
                </c:pt>
                <c:pt idx="1">
                  <c:v>Gradient Boosting</c:v>
                </c:pt>
              </c:strCache>
            </c:strRef>
          </c:cat>
          <c:val>
            <c:numRef>
              <c:f>Sheet1!$B$2:$B$3</c:f>
              <c:numCache>
                <c:formatCode>General</c:formatCode>
                <c:ptCount val="2"/>
                <c:pt idx="0">
                  <c:v>0.86099999999999999</c:v>
                </c:pt>
                <c:pt idx="1">
                  <c:v>0.92800000000000005</c:v>
                </c:pt>
              </c:numCache>
            </c:numRef>
          </c:val>
          <c:extLst>
            <c:ext xmlns:c16="http://schemas.microsoft.com/office/drawing/2014/chart" uri="{C3380CC4-5D6E-409C-BE32-E72D297353CC}">
              <c16:uniqueId val="{00000004-4640-4EFF-A07E-28CB542D289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22222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11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Coverage</c:v>
                </c:pt>
              </c:strCache>
            </c:strRef>
          </c:tx>
          <c:spPr>
            <a:solidFill>
              <a:schemeClr val="accent1"/>
            </a:solidFill>
            <a:ln w="9525" cap="flat">
              <a:solidFill>
                <a:srgbClr val="F9F9F9"/>
              </a:solidFill>
              <a:prstDash val="solid"/>
              <a:round/>
            </a:ln>
            <a:effectLst/>
          </c:spPr>
          <c:dPt>
            <c:idx val="0"/>
            <c:bubble3D val="0"/>
            <c:spPr>
              <a:solidFill>
                <a:srgbClr val="CC0000"/>
              </a:solidFill>
              <a:effectLst/>
            </c:spPr>
            <c:extLst>
              <c:ext xmlns:c16="http://schemas.microsoft.com/office/drawing/2014/chart" uri="{C3380CC4-5D6E-409C-BE32-E72D297353CC}">
                <c16:uniqueId val="{00000001-D5D5-442B-8DF2-D9E97CF3273A}"/>
              </c:ext>
            </c:extLst>
          </c:dPt>
          <c:dPt>
            <c:idx val="1"/>
            <c:bubble3D val="0"/>
            <c:spPr>
              <a:solidFill>
                <a:srgbClr val="333333"/>
              </a:solidFill>
              <a:effectLst/>
            </c:spPr>
            <c:extLst>
              <c:ext xmlns:c16="http://schemas.microsoft.com/office/drawing/2014/chart" uri="{C3380CC4-5D6E-409C-BE32-E72D297353CC}">
                <c16:uniqueId val="{00000003-D5D5-442B-8DF2-D9E97CF3273A}"/>
              </c:ext>
            </c:extLst>
          </c:dPt>
          <c:dLbls>
            <c:dLbl>
              <c:idx val="0"/>
              <c:numFmt formatCode="0%" sourceLinked="0"/>
              <c:spPr/>
              <c:txPr>
                <a:bodyPr/>
                <a:lstStyle/>
                <a:p>
                  <a:pPr>
                    <a:defRPr sz="9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5D5-442B-8DF2-D9E97CF3273A}"/>
                </c:ext>
              </c:extLst>
            </c:dLbl>
            <c:dLbl>
              <c:idx val="1"/>
              <c:numFmt formatCode="0%" sourceLinked="0"/>
              <c:spPr/>
              <c:txPr>
                <a:bodyPr/>
                <a:lstStyle/>
                <a:p>
                  <a:pPr>
                    <a:defRPr sz="9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5D5-442B-8DF2-D9E97CF3273A}"/>
                </c:ext>
              </c:extLst>
            </c:dLbl>
            <c:numFmt formatCode="0%" sourceLinked="0"/>
            <c:spPr>
              <a:noFill/>
              <a:ln>
                <a:noFill/>
              </a:ln>
              <a:effectLst/>
            </c:spPr>
            <c:txPr>
              <a:bodyPr/>
              <a:lstStyle/>
              <a:p>
                <a:pPr>
                  <a:defRPr sz="1800" b="0" i="0" u="none" strike="noStrike">
                    <a:solidFill>
                      <a:srgbClr val="000000"/>
                    </a:solidFill>
                    <a:latin typeface="Arial"/>
                  </a:defRPr>
                </a:pPr>
                <a:endParaRPr lang="fr-F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Direct (103)</c:v>
                </c:pt>
                <c:pt idx="1">
                  <c:v>Fallback (161)</c:v>
                </c:pt>
              </c:strCache>
            </c:strRef>
          </c:cat>
          <c:val>
            <c:numRef>
              <c:f>Sheet1!$B$2:$B$3</c:f>
              <c:numCache>
                <c:formatCode>General</c:formatCode>
                <c:ptCount val="2"/>
                <c:pt idx="0">
                  <c:v>103</c:v>
                </c:pt>
                <c:pt idx="1">
                  <c:v>161</c:v>
                </c:pt>
              </c:numCache>
            </c:numRef>
          </c:val>
          <c:extLst>
            <c:ext xmlns:c16="http://schemas.microsoft.com/office/drawing/2014/chart" uri="{C3380CC4-5D6E-409C-BE32-E72D297353CC}">
              <c16:uniqueId val="{00000004-D5D5-442B-8DF2-D9E97CF3273A}"/>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800">
              <a:solidFill>
                <a:srgbClr val="AAAAAA"/>
              </a:solidFill>
            </a:defRPr>
          </a:pPr>
          <a:endParaRPr lang="en-US"/>
        </a:p>
      </c:txPr>
    </c:legend>
    <c:plotVisOnly val="1"/>
    <c:dispBlanksAs val="span"/>
    <c:showDLblsOverMax val="1"/>
  </c:chart>
  <c:spPr>
    <a:solidFill>
      <a:srgbClr val="111111"/>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626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(30–40s)
"This is the Tunisia Real Estate AI — a full machine learning system built to predict property prices across every delegation in Tunisia. From raw, messy listing data scraped from multiple sources, to a live geospatial product that returns predictions in milliseconds. Four key numbers tell the story: 264 delegations covered, test R² of 0.890, cross-validation of 0.928 — and an 8-stage pipeline that makes it all possible. Let's break it down."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(35s)
"The core challenge: Tunisian real estate doesn't follow a uniform pattern. A 100m² apartment in Tunis costs 10 times more than the same property in Tataouine. And many regions simply don't have enough data to train a reliable model. The ML challenge wasn't just regression — it was building a system robust enough to handle sparsity, geographic inconsistency, and extreme price variance at national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(40s)
"The story starts with 46,401 raw rows across three completely different datasets — different schemas, different encodings, even corrupted text. Stage by stage, the pipeline cleans, merges, and geo-aligns everything against Tunisia's 264 official delegations. By the time we reach the model, we're working with 13,651 high-quality, geographically verified records. Every number here is real — pulled directly from the pipeline artifact reports."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(45s)
"Ten features. Three groups. The numeric base is simple — surface and rooms. Then we engineer five geographic signals: centroid coordinates pulled from the GeoJSON atlas, two target-encoded price signals at delegation and governorate level, and a price-vs-local-median ratio that captures how a property positions against its neighborhood. Finally, three categorical features: property family, governorate, and delegation — all one-hot encoded, with delegation carrying the highest location resolution. Location isn't a label here — it's a layered numeric signal the model can actually learn from."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(40s)
"Two models were compared head-to-head: Random Forest and Gradient Boosting. Both wrapped in a sklearn Pipeline with imputation and encoding. Gradient Boosting came out on top — validation R² of 0.928 against 0.861 for Random Forest. The test score of 0.890 confirms the model generalizes well. And the cross-validation standard deviation of just ±0.003 tells us this isn't a lucky split — it's consistent, stable performance across all folds."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(40s)
"One of the key ML design decisions was building a three-tier fallback system. 103 delegations have enough direct training data for a confident local prediction. For the remaining 161, the system doesn't fail — it falls back. First to the governorate level, then to a national benchmark if needed. The frontend surfaces the confidence tier explicitly so users always know what they're seeing. This is what allows us to cover all 264 delegations without fabricating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(40s)
"The ML model is exposed through a FastAPI backend. Each POST request hits the prediction endpoint, runs through the fallback logic, and returns a price estimate with its confidence tier. The frontend is a dark, cinematic geospatial interface — you select a delegation, pick a surface scenario, and the model responds instantly. And on top of that, an AI Narrator powered by Groq takes the structured prediction context and generates a readable market insight. The whole stack runs on Render via Docker."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(35s)
"This isn't a proof of concept. It's a live, deployed, end-to-end machine learning product. From the raw ingestion of messy listing data, through 8 pipeline stages, geographic alignment, gradient boosting, fallback logic, and an AI narrator — this system covers all 264 Tunisian delegations and serves predictions in real time. R² of 0.928 on cross-validation. Stable. Interpretable. Production-ready. Tunisia Real Estate 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274320"/>
            <a:ext cx="9144000" cy="0"/>
          </a:xfrm>
          <a:prstGeom prst="line">
            <a:avLst/>
          </a:prstGeom>
          <a:noFill/>
          <a:ln w="6350">
            <a:solidFill>
              <a:srgbClr val="1A1A1A"/>
            </a:solidFill>
            <a:prstDash val="solid"/>
          </a:ln>
        </p:spPr>
        <p:txBody>
          <a:bodyPr/>
          <a:lstStyle/>
          <a:p>
            <a:endParaRPr lang="fr-FR"/>
          </a:p>
        </p:txBody>
      </p:sp>
      <p:sp>
        <p:nvSpPr>
          <p:cNvPr id="4" name="Shape 2"/>
          <p:cNvSpPr/>
          <p:nvPr/>
        </p:nvSpPr>
        <p:spPr>
          <a:xfrm>
            <a:off x="0" y="475488"/>
            <a:ext cx="9144000" cy="0"/>
          </a:xfrm>
          <a:prstGeom prst="line">
            <a:avLst/>
          </a:prstGeom>
          <a:noFill/>
          <a:ln w="6350">
            <a:solidFill>
              <a:srgbClr val="1A1A1A"/>
            </a:solidFill>
            <a:prstDash val="solid"/>
          </a:ln>
        </p:spPr>
        <p:txBody>
          <a:bodyPr/>
          <a:lstStyle/>
          <a:p>
            <a:endParaRPr lang="fr-FR"/>
          </a:p>
        </p:txBody>
      </p:sp>
      <p:sp>
        <p:nvSpPr>
          <p:cNvPr id="5" name="Shape 3"/>
          <p:cNvSpPr/>
          <p:nvPr/>
        </p:nvSpPr>
        <p:spPr>
          <a:xfrm>
            <a:off x="0" y="676656"/>
            <a:ext cx="9144000" cy="0"/>
          </a:xfrm>
          <a:prstGeom prst="line">
            <a:avLst/>
          </a:prstGeom>
          <a:noFill/>
          <a:ln w="6350">
            <a:solidFill>
              <a:srgbClr val="1A1A1A"/>
            </a:solidFill>
            <a:prstDash val="solid"/>
          </a:ln>
        </p:spPr>
        <p:txBody>
          <a:bodyPr/>
          <a:lstStyle/>
          <a:p>
            <a:endParaRPr lang="fr-FR"/>
          </a:p>
        </p:txBody>
      </p:sp>
      <p:sp>
        <p:nvSpPr>
          <p:cNvPr id="6" name="Shape 4"/>
          <p:cNvSpPr/>
          <p:nvPr/>
        </p:nvSpPr>
        <p:spPr>
          <a:xfrm>
            <a:off x="0" y="877824"/>
            <a:ext cx="9144000" cy="0"/>
          </a:xfrm>
          <a:prstGeom prst="line">
            <a:avLst/>
          </a:prstGeom>
          <a:noFill/>
          <a:ln w="6350">
            <a:solidFill>
              <a:srgbClr val="1A1A1A"/>
            </a:solidFill>
            <a:prstDash val="solid"/>
          </a:ln>
        </p:spPr>
        <p:txBody>
          <a:bodyPr/>
          <a:lstStyle/>
          <a:p>
            <a:endParaRPr lang="fr-FR"/>
          </a:p>
        </p:txBody>
      </p:sp>
      <p:sp>
        <p:nvSpPr>
          <p:cNvPr id="7" name="Shape 5"/>
          <p:cNvSpPr/>
          <p:nvPr/>
        </p:nvSpPr>
        <p:spPr>
          <a:xfrm>
            <a:off x="0" y="1078992"/>
            <a:ext cx="9144000" cy="0"/>
          </a:xfrm>
          <a:prstGeom prst="line">
            <a:avLst/>
          </a:prstGeom>
          <a:noFill/>
          <a:ln w="6350">
            <a:solidFill>
              <a:srgbClr val="1A1A1A"/>
            </a:solidFill>
            <a:prstDash val="solid"/>
          </a:ln>
        </p:spPr>
        <p:txBody>
          <a:bodyPr/>
          <a:lstStyle/>
          <a:p>
            <a:endParaRPr lang="fr-FR"/>
          </a:p>
        </p:txBody>
      </p:sp>
      <p:sp>
        <p:nvSpPr>
          <p:cNvPr id="8" name="Shape 6"/>
          <p:cNvSpPr/>
          <p:nvPr/>
        </p:nvSpPr>
        <p:spPr>
          <a:xfrm>
            <a:off x="0" y="1280160"/>
            <a:ext cx="9144000" cy="0"/>
          </a:xfrm>
          <a:prstGeom prst="line">
            <a:avLst/>
          </a:prstGeom>
          <a:noFill/>
          <a:ln w="6350">
            <a:solidFill>
              <a:srgbClr val="1A1A1A"/>
            </a:solidFill>
            <a:prstDash val="solid"/>
          </a:ln>
        </p:spPr>
        <p:txBody>
          <a:bodyPr/>
          <a:lstStyle/>
          <a:p>
            <a:endParaRPr lang="fr-FR"/>
          </a:p>
        </p:txBody>
      </p:sp>
      <p:sp>
        <p:nvSpPr>
          <p:cNvPr id="9" name="Shape 7"/>
          <p:cNvSpPr/>
          <p:nvPr/>
        </p:nvSpPr>
        <p:spPr>
          <a:xfrm>
            <a:off x="0" y="1481328"/>
            <a:ext cx="9144000" cy="0"/>
          </a:xfrm>
          <a:prstGeom prst="line">
            <a:avLst/>
          </a:prstGeom>
          <a:noFill/>
          <a:ln w="6350">
            <a:solidFill>
              <a:srgbClr val="1A1A1A"/>
            </a:solidFill>
            <a:prstDash val="solid"/>
          </a:ln>
        </p:spPr>
        <p:txBody>
          <a:bodyPr/>
          <a:lstStyle/>
          <a:p>
            <a:endParaRPr lang="fr-FR"/>
          </a:p>
        </p:txBody>
      </p:sp>
      <p:sp>
        <p:nvSpPr>
          <p:cNvPr id="10" name="Shape 8"/>
          <p:cNvSpPr/>
          <p:nvPr/>
        </p:nvSpPr>
        <p:spPr>
          <a:xfrm>
            <a:off x="0" y="1682496"/>
            <a:ext cx="9144000" cy="0"/>
          </a:xfrm>
          <a:prstGeom prst="line">
            <a:avLst/>
          </a:prstGeom>
          <a:noFill/>
          <a:ln w="6350">
            <a:solidFill>
              <a:srgbClr val="1A1A1A"/>
            </a:solidFill>
            <a:prstDash val="solid"/>
          </a:ln>
        </p:spPr>
        <p:txBody>
          <a:bodyPr/>
          <a:lstStyle/>
          <a:p>
            <a:endParaRPr lang="fr-FR"/>
          </a:p>
        </p:txBody>
      </p:sp>
      <p:sp>
        <p:nvSpPr>
          <p:cNvPr id="11" name="Shape 9"/>
          <p:cNvSpPr/>
          <p:nvPr/>
        </p:nvSpPr>
        <p:spPr>
          <a:xfrm>
            <a:off x="0" y="1883664"/>
            <a:ext cx="9144000" cy="0"/>
          </a:xfrm>
          <a:prstGeom prst="line">
            <a:avLst/>
          </a:prstGeom>
          <a:noFill/>
          <a:ln w="6350">
            <a:solidFill>
              <a:srgbClr val="1A1A1A"/>
            </a:solidFill>
            <a:prstDash val="solid"/>
          </a:ln>
        </p:spPr>
        <p:txBody>
          <a:bodyPr/>
          <a:lstStyle/>
          <a:p>
            <a:endParaRPr lang="fr-FR"/>
          </a:p>
        </p:txBody>
      </p:sp>
      <p:sp>
        <p:nvSpPr>
          <p:cNvPr id="12" name="Shape 10"/>
          <p:cNvSpPr/>
          <p:nvPr/>
        </p:nvSpPr>
        <p:spPr>
          <a:xfrm>
            <a:off x="0" y="2084832"/>
            <a:ext cx="9144000" cy="0"/>
          </a:xfrm>
          <a:prstGeom prst="line">
            <a:avLst/>
          </a:prstGeom>
          <a:noFill/>
          <a:ln w="6350">
            <a:solidFill>
              <a:srgbClr val="1A1A1A"/>
            </a:solidFill>
            <a:prstDash val="solid"/>
          </a:ln>
        </p:spPr>
        <p:txBody>
          <a:bodyPr/>
          <a:lstStyle/>
          <a:p>
            <a:endParaRPr lang="fr-FR"/>
          </a:p>
        </p:txBody>
      </p:sp>
      <p:sp>
        <p:nvSpPr>
          <p:cNvPr id="13" name="Shape 11"/>
          <p:cNvSpPr/>
          <p:nvPr/>
        </p:nvSpPr>
        <p:spPr>
          <a:xfrm>
            <a:off x="0" y="2286000"/>
            <a:ext cx="9144000" cy="0"/>
          </a:xfrm>
          <a:prstGeom prst="line">
            <a:avLst/>
          </a:prstGeom>
          <a:noFill/>
          <a:ln w="6350">
            <a:solidFill>
              <a:srgbClr val="1A1A1A"/>
            </a:solidFill>
            <a:prstDash val="solid"/>
          </a:ln>
        </p:spPr>
        <p:txBody>
          <a:bodyPr/>
          <a:lstStyle/>
          <a:p>
            <a:endParaRPr lang="fr-FR"/>
          </a:p>
        </p:txBody>
      </p:sp>
      <p:sp>
        <p:nvSpPr>
          <p:cNvPr id="14" name="Shape 12"/>
          <p:cNvSpPr/>
          <p:nvPr/>
        </p:nvSpPr>
        <p:spPr>
          <a:xfrm>
            <a:off x="0" y="2487168"/>
            <a:ext cx="9144000" cy="0"/>
          </a:xfrm>
          <a:prstGeom prst="line">
            <a:avLst/>
          </a:prstGeom>
          <a:noFill/>
          <a:ln w="6350">
            <a:solidFill>
              <a:srgbClr val="1A1A1A"/>
            </a:solidFill>
            <a:prstDash val="solid"/>
          </a:ln>
        </p:spPr>
        <p:txBody>
          <a:bodyPr/>
          <a:lstStyle/>
          <a:p>
            <a:endParaRPr lang="fr-FR"/>
          </a:p>
        </p:txBody>
      </p:sp>
      <p:sp>
        <p:nvSpPr>
          <p:cNvPr id="15" name="Shape 13"/>
          <p:cNvSpPr/>
          <p:nvPr/>
        </p:nvSpPr>
        <p:spPr>
          <a:xfrm>
            <a:off x="0" y="2688336"/>
            <a:ext cx="9144000" cy="0"/>
          </a:xfrm>
          <a:prstGeom prst="line">
            <a:avLst/>
          </a:prstGeom>
          <a:noFill/>
          <a:ln w="6350">
            <a:solidFill>
              <a:srgbClr val="1A1A1A"/>
            </a:solidFill>
            <a:prstDash val="solid"/>
          </a:ln>
        </p:spPr>
        <p:txBody>
          <a:bodyPr/>
          <a:lstStyle/>
          <a:p>
            <a:endParaRPr lang="fr-FR"/>
          </a:p>
        </p:txBody>
      </p:sp>
      <p:sp>
        <p:nvSpPr>
          <p:cNvPr id="16" name="Shape 14"/>
          <p:cNvSpPr/>
          <p:nvPr/>
        </p:nvSpPr>
        <p:spPr>
          <a:xfrm>
            <a:off x="0" y="2889504"/>
            <a:ext cx="9144000" cy="0"/>
          </a:xfrm>
          <a:prstGeom prst="line">
            <a:avLst/>
          </a:prstGeom>
          <a:noFill/>
          <a:ln w="6350">
            <a:solidFill>
              <a:srgbClr val="1A1A1A"/>
            </a:solidFill>
            <a:prstDash val="solid"/>
          </a:ln>
        </p:spPr>
        <p:txBody>
          <a:bodyPr/>
          <a:lstStyle/>
          <a:p>
            <a:endParaRPr lang="fr-FR"/>
          </a:p>
        </p:txBody>
      </p:sp>
      <p:sp>
        <p:nvSpPr>
          <p:cNvPr id="17" name="Shape 15"/>
          <p:cNvSpPr/>
          <p:nvPr/>
        </p:nvSpPr>
        <p:spPr>
          <a:xfrm>
            <a:off x="0" y="3090672"/>
            <a:ext cx="9144000" cy="0"/>
          </a:xfrm>
          <a:prstGeom prst="line">
            <a:avLst/>
          </a:prstGeom>
          <a:noFill/>
          <a:ln w="6350">
            <a:solidFill>
              <a:srgbClr val="1A1A1A"/>
            </a:solidFill>
            <a:prstDash val="solid"/>
          </a:ln>
        </p:spPr>
        <p:txBody>
          <a:bodyPr/>
          <a:lstStyle/>
          <a:p>
            <a:endParaRPr lang="fr-FR"/>
          </a:p>
        </p:txBody>
      </p:sp>
      <p:sp>
        <p:nvSpPr>
          <p:cNvPr id="18" name="Shape 16"/>
          <p:cNvSpPr/>
          <p:nvPr/>
        </p:nvSpPr>
        <p:spPr>
          <a:xfrm>
            <a:off x="0" y="3291840"/>
            <a:ext cx="9144000" cy="0"/>
          </a:xfrm>
          <a:prstGeom prst="line">
            <a:avLst/>
          </a:prstGeom>
          <a:noFill/>
          <a:ln w="6350">
            <a:solidFill>
              <a:srgbClr val="1A1A1A"/>
            </a:solidFill>
            <a:prstDash val="solid"/>
          </a:ln>
        </p:spPr>
        <p:txBody>
          <a:bodyPr/>
          <a:lstStyle/>
          <a:p>
            <a:endParaRPr lang="fr-FR"/>
          </a:p>
        </p:txBody>
      </p:sp>
      <p:sp>
        <p:nvSpPr>
          <p:cNvPr id="19" name="Shape 17"/>
          <p:cNvSpPr/>
          <p:nvPr/>
        </p:nvSpPr>
        <p:spPr>
          <a:xfrm>
            <a:off x="0" y="3493008"/>
            <a:ext cx="9144000" cy="0"/>
          </a:xfrm>
          <a:prstGeom prst="line">
            <a:avLst/>
          </a:prstGeom>
          <a:noFill/>
          <a:ln w="6350">
            <a:solidFill>
              <a:srgbClr val="1A1A1A"/>
            </a:solidFill>
            <a:prstDash val="solid"/>
          </a:ln>
        </p:spPr>
        <p:txBody>
          <a:bodyPr/>
          <a:lstStyle/>
          <a:p>
            <a:endParaRPr lang="fr-FR"/>
          </a:p>
        </p:txBody>
      </p:sp>
      <p:sp>
        <p:nvSpPr>
          <p:cNvPr id="20" name="Shape 18"/>
          <p:cNvSpPr/>
          <p:nvPr/>
        </p:nvSpPr>
        <p:spPr>
          <a:xfrm>
            <a:off x="0" y="3694176"/>
            <a:ext cx="9144000" cy="0"/>
          </a:xfrm>
          <a:prstGeom prst="line">
            <a:avLst/>
          </a:prstGeom>
          <a:noFill/>
          <a:ln w="6350">
            <a:solidFill>
              <a:srgbClr val="1A1A1A"/>
            </a:solidFill>
            <a:prstDash val="solid"/>
          </a:ln>
        </p:spPr>
        <p:txBody>
          <a:bodyPr/>
          <a:lstStyle/>
          <a:p>
            <a:endParaRPr lang="fr-FR"/>
          </a:p>
        </p:txBody>
      </p:sp>
      <p:sp>
        <p:nvSpPr>
          <p:cNvPr id="21" name="Shape 19"/>
          <p:cNvSpPr/>
          <p:nvPr/>
        </p:nvSpPr>
        <p:spPr>
          <a:xfrm>
            <a:off x="0" y="3895344"/>
            <a:ext cx="9144000" cy="0"/>
          </a:xfrm>
          <a:prstGeom prst="line">
            <a:avLst/>
          </a:prstGeom>
          <a:noFill/>
          <a:ln w="6350">
            <a:solidFill>
              <a:srgbClr val="1A1A1A"/>
            </a:solidFill>
            <a:prstDash val="solid"/>
          </a:ln>
        </p:spPr>
        <p:txBody>
          <a:bodyPr/>
          <a:lstStyle/>
          <a:p>
            <a:endParaRPr lang="fr-FR"/>
          </a:p>
        </p:txBody>
      </p:sp>
      <p:sp>
        <p:nvSpPr>
          <p:cNvPr id="22" name="Shape 20"/>
          <p:cNvSpPr/>
          <p:nvPr/>
        </p:nvSpPr>
        <p:spPr>
          <a:xfrm>
            <a:off x="0" y="4096512"/>
            <a:ext cx="9144000" cy="0"/>
          </a:xfrm>
          <a:prstGeom prst="line">
            <a:avLst/>
          </a:prstGeom>
          <a:noFill/>
          <a:ln w="6350">
            <a:solidFill>
              <a:srgbClr val="1A1A1A"/>
            </a:solidFill>
            <a:prstDash val="solid"/>
          </a:ln>
        </p:spPr>
        <p:txBody>
          <a:bodyPr/>
          <a:lstStyle/>
          <a:p>
            <a:endParaRPr lang="fr-FR"/>
          </a:p>
        </p:txBody>
      </p:sp>
      <p:sp>
        <p:nvSpPr>
          <p:cNvPr id="23" name="Shape 21"/>
          <p:cNvSpPr/>
          <p:nvPr/>
        </p:nvSpPr>
        <p:spPr>
          <a:xfrm>
            <a:off x="0" y="4297680"/>
            <a:ext cx="9144000" cy="0"/>
          </a:xfrm>
          <a:prstGeom prst="line">
            <a:avLst/>
          </a:prstGeom>
          <a:noFill/>
          <a:ln w="6350">
            <a:solidFill>
              <a:srgbClr val="1A1A1A"/>
            </a:solidFill>
            <a:prstDash val="solid"/>
          </a:ln>
        </p:spPr>
        <p:txBody>
          <a:bodyPr/>
          <a:lstStyle/>
          <a:p>
            <a:endParaRPr lang="fr-FR"/>
          </a:p>
        </p:txBody>
      </p:sp>
      <p:sp>
        <p:nvSpPr>
          <p:cNvPr id="24" name="Shape 22"/>
          <p:cNvSpPr/>
          <p:nvPr/>
        </p:nvSpPr>
        <p:spPr>
          <a:xfrm>
            <a:off x="0" y="4498848"/>
            <a:ext cx="9144000" cy="0"/>
          </a:xfrm>
          <a:prstGeom prst="line">
            <a:avLst/>
          </a:prstGeom>
          <a:noFill/>
          <a:ln w="6350">
            <a:solidFill>
              <a:srgbClr val="1A1A1A"/>
            </a:solidFill>
            <a:prstDash val="solid"/>
          </a:ln>
        </p:spPr>
        <p:txBody>
          <a:bodyPr/>
          <a:lstStyle/>
          <a:p>
            <a:endParaRPr lang="fr-FR"/>
          </a:p>
        </p:txBody>
      </p:sp>
      <p:sp>
        <p:nvSpPr>
          <p:cNvPr id="25" name="Shape 23"/>
          <p:cNvSpPr/>
          <p:nvPr/>
        </p:nvSpPr>
        <p:spPr>
          <a:xfrm>
            <a:off x="0" y="4700016"/>
            <a:ext cx="9144000" cy="0"/>
          </a:xfrm>
          <a:prstGeom prst="line">
            <a:avLst/>
          </a:prstGeom>
          <a:noFill/>
          <a:ln w="6350">
            <a:solidFill>
              <a:srgbClr val="1A1A1A"/>
            </a:solidFill>
            <a:prstDash val="solid"/>
          </a:ln>
        </p:spPr>
        <p:txBody>
          <a:bodyPr/>
          <a:lstStyle/>
          <a:p>
            <a:endParaRPr lang="fr-FR"/>
          </a:p>
        </p:txBody>
      </p:sp>
      <p:sp>
        <p:nvSpPr>
          <p:cNvPr id="26" name="Shape 24"/>
          <p:cNvSpPr/>
          <p:nvPr/>
        </p:nvSpPr>
        <p:spPr>
          <a:xfrm>
            <a:off x="0" y="4901184"/>
            <a:ext cx="9144000" cy="0"/>
          </a:xfrm>
          <a:prstGeom prst="line">
            <a:avLst/>
          </a:prstGeom>
          <a:noFill/>
          <a:ln w="6350">
            <a:solidFill>
              <a:srgbClr val="1A1A1A"/>
            </a:solidFill>
            <a:prstDash val="solid"/>
          </a:ln>
        </p:spPr>
        <p:txBody>
          <a:bodyPr/>
          <a:lstStyle/>
          <a:p>
            <a:endParaRPr lang="fr-FR"/>
          </a:p>
        </p:txBody>
      </p:sp>
      <p:sp>
        <p:nvSpPr>
          <p:cNvPr id="27" name="Shape 25"/>
          <p:cNvSpPr/>
          <p:nvPr/>
        </p:nvSpPr>
        <p:spPr>
          <a:xfrm>
            <a:off x="0" y="5102352"/>
            <a:ext cx="9144000" cy="0"/>
          </a:xfrm>
          <a:prstGeom prst="line">
            <a:avLst/>
          </a:prstGeom>
          <a:noFill/>
          <a:ln w="6350">
            <a:solidFill>
              <a:srgbClr val="1A1A1A"/>
            </a:solidFill>
            <a:prstDash val="solid"/>
          </a:ln>
        </p:spPr>
        <p:txBody>
          <a:bodyPr/>
          <a:lstStyle/>
          <a:p>
            <a:endParaRPr lang="fr-FR"/>
          </a:p>
        </p:txBody>
      </p:sp>
      <p:sp>
        <p:nvSpPr>
          <p:cNvPr id="28" name="Shape 26"/>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29" name="Text 27"/>
          <p:cNvSpPr/>
          <p:nvPr/>
        </p:nvSpPr>
        <p:spPr>
          <a:xfrm>
            <a:off x="457200" y="777240"/>
            <a:ext cx="8229600" cy="914400"/>
          </a:xfrm>
          <a:prstGeom prst="rect">
            <a:avLst/>
          </a:prstGeom>
          <a:noFill/>
          <a:ln/>
        </p:spPr>
        <p:txBody>
          <a:bodyPr wrap="square" lIns="0" tIns="0" rIns="0" bIns="0" rtlCol="0" anchor="ctr"/>
          <a:lstStyle/>
          <a:p>
            <a:pPr marL="0" indent="0" algn="ctr">
              <a:buNone/>
            </a:pPr>
            <a:r>
              <a:rPr lang="en-US" sz="8800" b="1" kern="0" spc="1800" dirty="0">
                <a:solidFill>
                  <a:srgbClr val="FFFFFF"/>
                </a:solidFill>
                <a:latin typeface="Arial Black" pitchFamily="34" charset="0"/>
                <a:ea typeface="Arial Black" pitchFamily="34" charset="-122"/>
                <a:cs typeface="Arial Black" pitchFamily="34" charset="-120"/>
              </a:rPr>
              <a:t>TUNISIA</a:t>
            </a:r>
            <a:endParaRPr lang="en-US" sz="8800" dirty="0"/>
          </a:p>
        </p:txBody>
      </p:sp>
      <p:sp>
        <p:nvSpPr>
          <p:cNvPr id="30" name="Text 28"/>
          <p:cNvSpPr/>
          <p:nvPr/>
        </p:nvSpPr>
        <p:spPr>
          <a:xfrm>
            <a:off x="457200" y="1554480"/>
            <a:ext cx="8229600" cy="777240"/>
          </a:xfrm>
          <a:prstGeom prst="rect">
            <a:avLst/>
          </a:prstGeom>
          <a:noFill/>
          <a:ln/>
        </p:spPr>
        <p:txBody>
          <a:bodyPr wrap="square" lIns="0" tIns="0" rIns="0" bIns="0" rtlCol="0" anchor="ctr"/>
          <a:lstStyle/>
          <a:p>
            <a:pPr marL="0" indent="0" algn="ctr">
              <a:buNone/>
            </a:pPr>
            <a:r>
              <a:rPr lang="en-US" sz="5400" b="1" kern="0" spc="1000" dirty="0">
                <a:solidFill>
                  <a:srgbClr val="CC0000"/>
                </a:solidFill>
                <a:latin typeface="Arial Black" pitchFamily="34" charset="0"/>
                <a:ea typeface="Arial Black" pitchFamily="34" charset="-122"/>
                <a:cs typeface="Arial Black" pitchFamily="34" charset="-120"/>
              </a:rPr>
              <a:t>REAL ESTATE AI</a:t>
            </a:r>
            <a:endParaRPr lang="en-US" sz="5400" dirty="0"/>
          </a:p>
        </p:txBody>
      </p:sp>
      <p:sp>
        <p:nvSpPr>
          <p:cNvPr id="31" name="Text 29"/>
          <p:cNvSpPr/>
          <p:nvPr/>
        </p:nvSpPr>
        <p:spPr>
          <a:xfrm>
            <a:off x="457200" y="2468880"/>
            <a:ext cx="8229600" cy="274320"/>
          </a:xfrm>
          <a:prstGeom prst="rect">
            <a:avLst/>
          </a:prstGeom>
          <a:noFill/>
          <a:ln/>
        </p:spPr>
        <p:txBody>
          <a:bodyPr wrap="square" lIns="0" tIns="0" rIns="0" bIns="0" rtlCol="0" anchor="ctr"/>
          <a:lstStyle/>
          <a:p>
            <a:pPr marL="0" indent="0" algn="ctr">
              <a:buNone/>
            </a:pPr>
            <a:r>
              <a:rPr lang="en-US" sz="1000" kern="0" spc="500" dirty="0">
                <a:solidFill>
                  <a:srgbClr val="AAAAAA"/>
                </a:solidFill>
                <a:latin typeface="Arial" pitchFamily="34" charset="0"/>
                <a:ea typeface="Arial" pitchFamily="34" charset="-122"/>
                <a:cs typeface="Arial" pitchFamily="34" charset="-120"/>
              </a:rPr>
              <a:t>END-TO-END MACHINE LEARNING PRICE PREDICTION SYSTEM</a:t>
            </a:r>
            <a:endParaRPr lang="en-US" sz="1000" dirty="0"/>
          </a:p>
        </p:txBody>
      </p:sp>
      <p:sp>
        <p:nvSpPr>
          <p:cNvPr id="32" name="Shape 30"/>
          <p:cNvSpPr/>
          <p:nvPr/>
        </p:nvSpPr>
        <p:spPr>
          <a:xfrm>
            <a:off x="1645920" y="2834640"/>
            <a:ext cx="5852160" cy="0"/>
          </a:xfrm>
          <a:prstGeom prst="line">
            <a:avLst/>
          </a:prstGeom>
          <a:noFill/>
          <a:ln w="12700">
            <a:solidFill>
              <a:srgbClr val="CC0000"/>
            </a:solidFill>
            <a:prstDash val="solid"/>
          </a:ln>
        </p:spPr>
        <p:txBody>
          <a:bodyPr/>
          <a:lstStyle/>
          <a:p>
            <a:endParaRPr lang="fr-FR"/>
          </a:p>
        </p:txBody>
      </p:sp>
      <p:sp>
        <p:nvSpPr>
          <p:cNvPr id="33" name="Text 31"/>
          <p:cNvSpPr/>
          <p:nvPr/>
        </p:nvSpPr>
        <p:spPr>
          <a:xfrm>
            <a:off x="457200" y="3017520"/>
            <a:ext cx="1920240" cy="475488"/>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264</a:t>
            </a:r>
            <a:endParaRPr lang="en-US" sz="2200" dirty="0"/>
          </a:p>
        </p:txBody>
      </p:sp>
      <p:sp>
        <p:nvSpPr>
          <p:cNvPr id="34" name="Text 32"/>
          <p:cNvSpPr/>
          <p:nvPr/>
        </p:nvSpPr>
        <p:spPr>
          <a:xfrm>
            <a:off x="457200" y="3493008"/>
            <a:ext cx="1920240" cy="201168"/>
          </a:xfrm>
          <a:prstGeom prst="rect">
            <a:avLst/>
          </a:prstGeom>
          <a:noFill/>
          <a:ln/>
        </p:spPr>
        <p:txBody>
          <a:bodyPr wrap="square" lIns="0" tIns="0" rIns="0" bIns="0" rtlCol="0" anchor="ctr"/>
          <a:lstStyle/>
          <a:p>
            <a:pPr marL="0" indent="0" algn="ctr">
              <a:buNone/>
            </a:pPr>
            <a:r>
              <a:rPr lang="en-US" sz="700" kern="0" spc="300" dirty="0">
                <a:solidFill>
                  <a:srgbClr val="AAAAAA"/>
                </a:solidFill>
                <a:latin typeface="Arial" pitchFamily="34" charset="0"/>
                <a:ea typeface="Arial" pitchFamily="34" charset="-122"/>
                <a:cs typeface="Arial" pitchFamily="34" charset="-120"/>
              </a:rPr>
              <a:t>DELEGATIONS COVERED</a:t>
            </a:r>
            <a:endParaRPr lang="en-US" sz="700" dirty="0"/>
          </a:p>
        </p:txBody>
      </p:sp>
      <p:sp>
        <p:nvSpPr>
          <p:cNvPr id="35" name="Text 33"/>
          <p:cNvSpPr/>
          <p:nvPr/>
        </p:nvSpPr>
        <p:spPr>
          <a:xfrm>
            <a:off x="2560320" y="3017520"/>
            <a:ext cx="1920240" cy="475488"/>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R² 0.890</a:t>
            </a:r>
            <a:endParaRPr lang="en-US" sz="2200" dirty="0"/>
          </a:p>
        </p:txBody>
      </p:sp>
      <p:sp>
        <p:nvSpPr>
          <p:cNvPr id="36" name="Text 34"/>
          <p:cNvSpPr/>
          <p:nvPr/>
        </p:nvSpPr>
        <p:spPr>
          <a:xfrm>
            <a:off x="2560320" y="3493008"/>
            <a:ext cx="1920240" cy="201168"/>
          </a:xfrm>
          <a:prstGeom prst="rect">
            <a:avLst/>
          </a:prstGeom>
          <a:noFill/>
          <a:ln/>
        </p:spPr>
        <p:txBody>
          <a:bodyPr wrap="square" lIns="0" tIns="0" rIns="0" bIns="0" rtlCol="0" anchor="ctr"/>
          <a:lstStyle/>
          <a:p>
            <a:pPr marL="0" indent="0" algn="ctr">
              <a:buNone/>
            </a:pPr>
            <a:r>
              <a:rPr lang="en-US" sz="700" kern="0" spc="300" dirty="0">
                <a:solidFill>
                  <a:srgbClr val="AAAAAA"/>
                </a:solidFill>
                <a:latin typeface="Arial" pitchFamily="34" charset="0"/>
                <a:ea typeface="Arial" pitchFamily="34" charset="-122"/>
                <a:cs typeface="Arial" pitchFamily="34" charset="-120"/>
              </a:rPr>
              <a:t>TEST SCORE</a:t>
            </a:r>
            <a:endParaRPr lang="en-US" sz="700" dirty="0"/>
          </a:p>
        </p:txBody>
      </p:sp>
      <p:sp>
        <p:nvSpPr>
          <p:cNvPr id="37" name="Text 35"/>
          <p:cNvSpPr/>
          <p:nvPr/>
        </p:nvSpPr>
        <p:spPr>
          <a:xfrm>
            <a:off x="4663440" y="3017520"/>
            <a:ext cx="1920240" cy="475488"/>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R² 0.928</a:t>
            </a:r>
            <a:endParaRPr lang="en-US" sz="2200" dirty="0"/>
          </a:p>
        </p:txBody>
      </p:sp>
      <p:sp>
        <p:nvSpPr>
          <p:cNvPr id="38" name="Text 36"/>
          <p:cNvSpPr/>
          <p:nvPr/>
        </p:nvSpPr>
        <p:spPr>
          <a:xfrm>
            <a:off x="4663440" y="3493008"/>
            <a:ext cx="1920240" cy="201168"/>
          </a:xfrm>
          <a:prstGeom prst="rect">
            <a:avLst/>
          </a:prstGeom>
          <a:noFill/>
          <a:ln/>
        </p:spPr>
        <p:txBody>
          <a:bodyPr wrap="square" lIns="0" tIns="0" rIns="0" bIns="0" rtlCol="0" anchor="ctr"/>
          <a:lstStyle/>
          <a:p>
            <a:pPr marL="0" indent="0" algn="ctr">
              <a:buNone/>
            </a:pPr>
            <a:r>
              <a:rPr lang="en-US" sz="700" kern="0" spc="300" dirty="0">
                <a:solidFill>
                  <a:srgbClr val="AAAAAA"/>
                </a:solidFill>
                <a:latin typeface="Arial" pitchFamily="34" charset="0"/>
                <a:ea typeface="Arial" pitchFamily="34" charset="-122"/>
                <a:cs typeface="Arial" pitchFamily="34" charset="-120"/>
              </a:rPr>
              <a:t>CV SCORE</a:t>
            </a:r>
            <a:endParaRPr lang="en-US" sz="700" dirty="0"/>
          </a:p>
        </p:txBody>
      </p:sp>
      <p:sp>
        <p:nvSpPr>
          <p:cNvPr id="39" name="Text 37"/>
          <p:cNvSpPr/>
          <p:nvPr/>
        </p:nvSpPr>
        <p:spPr>
          <a:xfrm>
            <a:off x="6766560" y="3017520"/>
            <a:ext cx="1920240" cy="475488"/>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8 STAGES</a:t>
            </a:r>
            <a:endParaRPr lang="en-US" sz="2200" dirty="0"/>
          </a:p>
        </p:txBody>
      </p:sp>
      <p:sp>
        <p:nvSpPr>
          <p:cNvPr id="40" name="Text 38"/>
          <p:cNvSpPr/>
          <p:nvPr/>
        </p:nvSpPr>
        <p:spPr>
          <a:xfrm>
            <a:off x="6766560" y="3493008"/>
            <a:ext cx="1920240" cy="201168"/>
          </a:xfrm>
          <a:prstGeom prst="rect">
            <a:avLst/>
          </a:prstGeom>
          <a:noFill/>
          <a:ln/>
        </p:spPr>
        <p:txBody>
          <a:bodyPr wrap="square" lIns="0" tIns="0" rIns="0" bIns="0" rtlCol="0" anchor="ctr"/>
          <a:lstStyle/>
          <a:p>
            <a:pPr marL="0" indent="0" algn="ctr">
              <a:buNone/>
            </a:pPr>
            <a:r>
              <a:rPr lang="en-US" sz="700" kern="0" spc="300" dirty="0">
                <a:solidFill>
                  <a:srgbClr val="AAAAAA"/>
                </a:solidFill>
                <a:latin typeface="Arial" pitchFamily="34" charset="0"/>
                <a:ea typeface="Arial" pitchFamily="34" charset="-122"/>
                <a:cs typeface="Arial" pitchFamily="34" charset="-120"/>
              </a:rPr>
              <a:t>PIPELINE DEPTH</a:t>
            </a:r>
            <a:endParaRPr lang="en-US" sz="700" dirty="0"/>
          </a:p>
        </p:txBody>
      </p:sp>
      <p:sp>
        <p:nvSpPr>
          <p:cNvPr id="41" name="Shape 39"/>
          <p:cNvSpPr/>
          <p:nvPr/>
        </p:nvSpPr>
        <p:spPr>
          <a:xfrm>
            <a:off x="1645920" y="3822192"/>
            <a:ext cx="5852160" cy="0"/>
          </a:xfrm>
          <a:prstGeom prst="line">
            <a:avLst/>
          </a:prstGeom>
          <a:noFill/>
          <a:ln w="6350">
            <a:solidFill>
              <a:srgbClr val="7A0000"/>
            </a:solidFill>
            <a:prstDash val="solid"/>
          </a:ln>
        </p:spPr>
        <p:txBody>
          <a:bodyPr/>
          <a:lstStyle/>
          <a:p>
            <a:endParaRPr lang="fr-FR"/>
          </a:p>
        </p:txBody>
      </p:sp>
      <p:sp>
        <p:nvSpPr>
          <p:cNvPr id="42" name="Text 40"/>
          <p:cNvSpPr/>
          <p:nvPr/>
        </p:nvSpPr>
        <p:spPr>
          <a:xfrm>
            <a:off x="457200" y="3977640"/>
            <a:ext cx="8229600" cy="201168"/>
          </a:xfrm>
          <a:prstGeom prst="rect">
            <a:avLst/>
          </a:prstGeom>
          <a:noFill/>
          <a:ln/>
        </p:spPr>
        <p:txBody>
          <a:bodyPr wrap="square" lIns="0" tIns="0" rIns="0" bIns="0" rtlCol="0" anchor="ctr"/>
          <a:lstStyle/>
          <a:p>
            <a:pPr marL="0" indent="0" algn="ctr">
              <a:buNone/>
            </a:pPr>
            <a:r>
              <a:rPr lang="en-US" sz="800" kern="0" spc="400" dirty="0">
                <a:solidFill>
                  <a:srgbClr val="555555"/>
                </a:solidFill>
                <a:latin typeface="Arial" pitchFamily="34" charset="0"/>
                <a:ea typeface="Arial" pitchFamily="34" charset="-122"/>
                <a:cs typeface="Arial" pitchFamily="34" charset="-120"/>
              </a:rPr>
              <a:t>GEOSPATIAL · ML · FALLBACK INTELLIGENCE · AI NARRATION</a:t>
            </a:r>
            <a:endParaRPr lang="en-US" sz="800" dirty="0"/>
          </a:p>
        </p:txBody>
      </p:sp>
      <p:sp>
        <p:nvSpPr>
          <p:cNvPr id="43" name="Shape 41"/>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
        <p:nvSpPr>
          <p:cNvPr id="44" name="Text 42"/>
          <p:cNvSpPr/>
          <p:nvPr/>
        </p:nvSpPr>
        <p:spPr>
          <a:xfrm>
            <a:off x="182880" y="5088636"/>
            <a:ext cx="8778240" cy="54864"/>
          </a:xfrm>
          <a:prstGeom prst="rect">
            <a:avLst/>
          </a:prstGeom>
          <a:noFill/>
          <a:ln/>
        </p:spPr>
        <p:txBody>
          <a:bodyPr wrap="square" lIns="0" tIns="0" rIns="0" bIns="0" rtlCol="0" anchor="ctr"/>
          <a:lstStyle/>
          <a:p>
            <a:pPr marL="0" indent="0" algn="ctr">
              <a:buNone/>
            </a:pPr>
            <a:r>
              <a:rPr lang="en-US" sz="650" dirty="0">
                <a:solidFill>
                  <a:srgbClr val="555555"/>
                </a:solidFill>
                <a:latin typeface="Arial" pitchFamily="34" charset="0"/>
                <a:ea typeface="Arial" pitchFamily="34" charset="-122"/>
                <a:cs typeface="Arial" pitchFamily="34" charset="-120"/>
              </a:rPr>
              <a:t>tunisiarealestate-ml.onrender.com  ·  github.com/Kirazul/TunisiaRealEstate_ML</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4" name="Text 2"/>
          <p:cNvSpPr/>
          <p:nvPr/>
        </p:nvSpPr>
        <p:spPr>
          <a:xfrm>
            <a:off x="228600" y="73152"/>
            <a:ext cx="27432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02 / PROBLEM STATEMENT</a:t>
            </a:r>
            <a:endParaRPr lang="en-US" sz="700" dirty="0"/>
          </a:p>
        </p:txBody>
      </p:sp>
      <p:sp>
        <p:nvSpPr>
          <p:cNvPr id="5" name="Text 3"/>
          <p:cNvSpPr/>
          <p:nvPr/>
        </p:nvSpPr>
        <p:spPr>
          <a:xfrm>
            <a:off x="228600" y="310896"/>
            <a:ext cx="5029200" cy="512064"/>
          </a:xfrm>
          <a:prstGeom prst="rect">
            <a:avLst/>
          </a:prstGeom>
          <a:noFill/>
          <a:ln/>
        </p:spPr>
        <p:txBody>
          <a:bodyPr wrap="square" lIns="0" tIns="0" rIns="0" bIns="0" rtlCol="0" anchor="ctr"/>
          <a:lstStyle/>
          <a:p>
            <a:pPr marL="0" indent="0" algn="l">
              <a:buNone/>
            </a:pPr>
            <a:r>
              <a:rPr lang="en-US" sz="3000" b="1" kern="0" spc="200" dirty="0">
                <a:solidFill>
                  <a:srgbClr val="FFFFFF"/>
                </a:solidFill>
                <a:latin typeface="Arial Black" pitchFamily="34" charset="0"/>
                <a:ea typeface="Arial Black" pitchFamily="34" charset="-122"/>
                <a:cs typeface="Arial Black" pitchFamily="34" charset="-120"/>
              </a:rPr>
              <a:t>THE ML CHALLENGE</a:t>
            </a:r>
            <a:endParaRPr lang="en-US" sz="3000" dirty="0"/>
          </a:p>
        </p:txBody>
      </p:sp>
      <p:sp>
        <p:nvSpPr>
          <p:cNvPr id="6" name="Text 4"/>
          <p:cNvSpPr/>
          <p:nvPr/>
        </p:nvSpPr>
        <p:spPr>
          <a:xfrm>
            <a:off x="228600" y="841248"/>
            <a:ext cx="5029200" cy="274320"/>
          </a:xfrm>
          <a:prstGeom prst="rect">
            <a:avLst/>
          </a:prstGeom>
          <a:noFill/>
          <a:ln/>
        </p:spPr>
        <p:txBody>
          <a:bodyPr wrap="square" lIns="0" tIns="0" rIns="0" bIns="0" rtlCol="0" anchor="ctr"/>
          <a:lstStyle/>
          <a:p>
            <a:pPr marL="0" indent="0" algn="l">
              <a:buNone/>
            </a:pPr>
            <a:r>
              <a:rPr lang="en-US" sz="1300" dirty="0">
                <a:solidFill>
                  <a:srgbClr val="AAAAAA"/>
                </a:solidFill>
                <a:latin typeface="Arial" pitchFamily="34" charset="0"/>
                <a:ea typeface="Arial" pitchFamily="34" charset="-122"/>
                <a:cs typeface="Arial" pitchFamily="34" charset="-120"/>
              </a:rPr>
              <a:t>Location-sensitive price prediction at national scale.</a:t>
            </a:r>
            <a:endParaRPr lang="en-US" sz="1300" dirty="0"/>
          </a:p>
        </p:txBody>
      </p:sp>
      <p:sp>
        <p:nvSpPr>
          <p:cNvPr id="7" name="Shape 5"/>
          <p:cNvSpPr/>
          <p:nvPr/>
        </p:nvSpPr>
        <p:spPr>
          <a:xfrm>
            <a:off x="228600" y="1481328"/>
            <a:ext cx="4663440" cy="66751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8" name="Shape 6"/>
          <p:cNvSpPr/>
          <p:nvPr/>
        </p:nvSpPr>
        <p:spPr>
          <a:xfrm>
            <a:off x="228600" y="1481328"/>
            <a:ext cx="54864" cy="667512"/>
          </a:xfrm>
          <a:prstGeom prst="rect">
            <a:avLst/>
          </a:prstGeom>
          <a:solidFill>
            <a:srgbClr val="CC0000"/>
          </a:solidFill>
          <a:ln w="12700">
            <a:solidFill>
              <a:srgbClr val="CC0000"/>
            </a:solidFill>
            <a:prstDash val="solid"/>
          </a:ln>
        </p:spPr>
        <p:txBody>
          <a:bodyPr/>
          <a:lstStyle/>
          <a:p>
            <a:endParaRPr lang="fr-FR"/>
          </a:p>
        </p:txBody>
      </p:sp>
      <p:sp>
        <p:nvSpPr>
          <p:cNvPr id="9" name="Text 7"/>
          <p:cNvSpPr/>
          <p:nvPr/>
        </p:nvSpPr>
        <p:spPr>
          <a:xfrm>
            <a:off x="384048" y="1527048"/>
            <a:ext cx="4389120" cy="246888"/>
          </a:xfrm>
          <a:prstGeom prst="rect">
            <a:avLst/>
          </a:prstGeom>
          <a:noFill/>
          <a:ln/>
        </p:spPr>
        <p:txBody>
          <a:bodyPr wrap="square" lIns="0" tIns="0" rIns="0" bIns="0" rtlCol="0" anchor="ctr"/>
          <a:lstStyle/>
          <a:p>
            <a:pPr marL="0" indent="0" algn="l">
              <a:buNone/>
            </a:pPr>
            <a:r>
              <a:rPr lang="en-US" sz="1000" b="1" dirty="0">
                <a:solidFill>
                  <a:srgbClr val="FF1A1A"/>
                </a:solidFill>
                <a:latin typeface="Arial Black" pitchFamily="34" charset="0"/>
                <a:ea typeface="Arial Black" pitchFamily="34" charset="-122"/>
                <a:cs typeface="Arial Black" pitchFamily="34" charset="-120"/>
              </a:rPr>
              <a:t>SPARSE DATA</a:t>
            </a:r>
            <a:endParaRPr lang="en-US" sz="1000" dirty="0"/>
          </a:p>
        </p:txBody>
      </p:sp>
      <p:sp>
        <p:nvSpPr>
          <p:cNvPr id="10" name="Text 8"/>
          <p:cNvSpPr/>
          <p:nvPr/>
        </p:nvSpPr>
        <p:spPr>
          <a:xfrm>
            <a:off x="384048" y="1801368"/>
            <a:ext cx="4389120" cy="246888"/>
          </a:xfrm>
          <a:prstGeom prst="rect">
            <a:avLst/>
          </a:prstGeom>
          <a:noFill/>
          <a:ln/>
        </p:spPr>
        <p:txBody>
          <a:bodyPr wrap="square" lIns="0" tIns="0" rIns="0" bIns="0" rtlCol="0" anchor="ctr"/>
          <a:lstStyle/>
          <a:p>
            <a:pPr marL="0" indent="0" algn="l">
              <a:buNone/>
            </a:pPr>
            <a:r>
              <a:rPr lang="en-US" sz="900" dirty="0">
                <a:solidFill>
                  <a:srgbClr val="AAAAAA"/>
                </a:solidFill>
                <a:latin typeface="Arial" pitchFamily="34" charset="0"/>
                <a:ea typeface="Arial" pitchFamily="34" charset="-122"/>
                <a:cs typeface="Arial" pitchFamily="34" charset="-120"/>
              </a:rPr>
              <a:t>Many delegations have &lt;10 training samples</a:t>
            </a:r>
            <a:endParaRPr lang="en-US" sz="900" dirty="0"/>
          </a:p>
        </p:txBody>
      </p:sp>
      <p:sp>
        <p:nvSpPr>
          <p:cNvPr id="11" name="Shape 9"/>
          <p:cNvSpPr/>
          <p:nvPr/>
        </p:nvSpPr>
        <p:spPr>
          <a:xfrm>
            <a:off x="228600" y="2286000"/>
            <a:ext cx="4663440" cy="66751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2" name="Shape 10"/>
          <p:cNvSpPr/>
          <p:nvPr/>
        </p:nvSpPr>
        <p:spPr>
          <a:xfrm>
            <a:off x="228600" y="2286000"/>
            <a:ext cx="54864" cy="667512"/>
          </a:xfrm>
          <a:prstGeom prst="rect">
            <a:avLst/>
          </a:prstGeom>
          <a:solidFill>
            <a:srgbClr val="CC0000"/>
          </a:solidFill>
          <a:ln w="12700">
            <a:solidFill>
              <a:srgbClr val="CC0000"/>
            </a:solidFill>
            <a:prstDash val="solid"/>
          </a:ln>
        </p:spPr>
        <p:txBody>
          <a:bodyPr/>
          <a:lstStyle/>
          <a:p>
            <a:endParaRPr lang="fr-FR"/>
          </a:p>
        </p:txBody>
      </p:sp>
      <p:sp>
        <p:nvSpPr>
          <p:cNvPr id="13" name="Text 11"/>
          <p:cNvSpPr/>
          <p:nvPr/>
        </p:nvSpPr>
        <p:spPr>
          <a:xfrm>
            <a:off x="384048" y="2331720"/>
            <a:ext cx="4389120" cy="246888"/>
          </a:xfrm>
          <a:prstGeom prst="rect">
            <a:avLst/>
          </a:prstGeom>
          <a:noFill/>
          <a:ln/>
        </p:spPr>
        <p:txBody>
          <a:bodyPr wrap="square" lIns="0" tIns="0" rIns="0" bIns="0" rtlCol="0" anchor="ctr"/>
          <a:lstStyle/>
          <a:p>
            <a:pPr marL="0" indent="0" algn="l">
              <a:buNone/>
            </a:pPr>
            <a:r>
              <a:rPr lang="en-US" sz="1000" b="1" dirty="0">
                <a:solidFill>
                  <a:srgbClr val="FF1A1A"/>
                </a:solidFill>
                <a:latin typeface="Arial Black" pitchFamily="34" charset="0"/>
                <a:ea typeface="Arial Black" pitchFamily="34" charset="-122"/>
                <a:cs typeface="Arial Black" pitchFamily="34" charset="-120"/>
              </a:rPr>
              <a:t>GEOGRAPHIC NOISE</a:t>
            </a:r>
            <a:endParaRPr lang="en-US" sz="1000" dirty="0"/>
          </a:p>
        </p:txBody>
      </p:sp>
      <p:sp>
        <p:nvSpPr>
          <p:cNvPr id="14" name="Text 12"/>
          <p:cNvSpPr/>
          <p:nvPr/>
        </p:nvSpPr>
        <p:spPr>
          <a:xfrm>
            <a:off x="384048" y="2606040"/>
            <a:ext cx="4389120" cy="246888"/>
          </a:xfrm>
          <a:prstGeom prst="rect">
            <a:avLst/>
          </a:prstGeom>
          <a:noFill/>
          <a:ln/>
        </p:spPr>
        <p:txBody>
          <a:bodyPr wrap="square" lIns="0" tIns="0" rIns="0" bIns="0" rtlCol="0" anchor="ctr"/>
          <a:lstStyle/>
          <a:p>
            <a:pPr marL="0" indent="0" algn="l">
              <a:buNone/>
            </a:pPr>
            <a:r>
              <a:rPr lang="en-US" sz="900" dirty="0">
                <a:solidFill>
                  <a:srgbClr val="AAAAAA"/>
                </a:solidFill>
                <a:latin typeface="Arial" pitchFamily="34" charset="0"/>
                <a:ea typeface="Arial" pitchFamily="34" charset="-122"/>
                <a:cs typeface="Arial" pitchFamily="34" charset="-120"/>
              </a:rPr>
              <a:t>Inconsistent city/delegation naming across sources</a:t>
            </a:r>
            <a:endParaRPr lang="en-US" sz="900" dirty="0"/>
          </a:p>
        </p:txBody>
      </p:sp>
      <p:sp>
        <p:nvSpPr>
          <p:cNvPr id="15" name="Shape 13"/>
          <p:cNvSpPr/>
          <p:nvPr/>
        </p:nvSpPr>
        <p:spPr>
          <a:xfrm>
            <a:off x="228600" y="3090672"/>
            <a:ext cx="4663440" cy="66751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6" name="Shape 14"/>
          <p:cNvSpPr/>
          <p:nvPr/>
        </p:nvSpPr>
        <p:spPr>
          <a:xfrm>
            <a:off x="228600" y="3090672"/>
            <a:ext cx="54864" cy="667512"/>
          </a:xfrm>
          <a:prstGeom prst="rect">
            <a:avLst/>
          </a:prstGeom>
          <a:solidFill>
            <a:srgbClr val="CC0000"/>
          </a:solidFill>
          <a:ln w="12700">
            <a:solidFill>
              <a:srgbClr val="CC0000"/>
            </a:solidFill>
            <a:prstDash val="solid"/>
          </a:ln>
        </p:spPr>
        <p:txBody>
          <a:bodyPr/>
          <a:lstStyle/>
          <a:p>
            <a:endParaRPr lang="fr-FR"/>
          </a:p>
        </p:txBody>
      </p:sp>
      <p:sp>
        <p:nvSpPr>
          <p:cNvPr id="17" name="Text 15"/>
          <p:cNvSpPr/>
          <p:nvPr/>
        </p:nvSpPr>
        <p:spPr>
          <a:xfrm>
            <a:off x="384048" y="3136392"/>
            <a:ext cx="4389120" cy="246888"/>
          </a:xfrm>
          <a:prstGeom prst="rect">
            <a:avLst/>
          </a:prstGeom>
          <a:noFill/>
          <a:ln/>
        </p:spPr>
        <p:txBody>
          <a:bodyPr wrap="square" lIns="0" tIns="0" rIns="0" bIns="0" rtlCol="0" anchor="ctr"/>
          <a:lstStyle/>
          <a:p>
            <a:pPr marL="0" indent="0" algn="l">
              <a:buNone/>
            </a:pPr>
            <a:r>
              <a:rPr lang="en-US" sz="1000" b="1" dirty="0">
                <a:solidFill>
                  <a:srgbClr val="FF1A1A"/>
                </a:solidFill>
                <a:latin typeface="Arial Black" pitchFamily="34" charset="0"/>
                <a:ea typeface="Arial Black" pitchFamily="34" charset="-122"/>
                <a:cs typeface="Arial Black" pitchFamily="34" charset="-120"/>
              </a:rPr>
              <a:t>SCALE VARIANCE</a:t>
            </a:r>
            <a:endParaRPr lang="en-US" sz="1000" dirty="0"/>
          </a:p>
        </p:txBody>
      </p:sp>
      <p:sp>
        <p:nvSpPr>
          <p:cNvPr id="18" name="Text 16"/>
          <p:cNvSpPr/>
          <p:nvPr/>
        </p:nvSpPr>
        <p:spPr>
          <a:xfrm>
            <a:off x="384048" y="3410712"/>
            <a:ext cx="4389120" cy="246888"/>
          </a:xfrm>
          <a:prstGeom prst="rect">
            <a:avLst/>
          </a:prstGeom>
          <a:noFill/>
          <a:ln/>
        </p:spPr>
        <p:txBody>
          <a:bodyPr wrap="square" lIns="0" tIns="0" rIns="0" bIns="0" rtlCol="0" anchor="ctr"/>
          <a:lstStyle/>
          <a:p>
            <a:pPr marL="0" indent="0" algn="l">
              <a:buNone/>
            </a:pPr>
            <a:r>
              <a:rPr lang="en-US" sz="900" dirty="0">
                <a:solidFill>
                  <a:srgbClr val="AAAAAA"/>
                </a:solidFill>
                <a:latin typeface="Arial" pitchFamily="34" charset="0"/>
                <a:ea typeface="Arial" pitchFamily="34" charset="-122"/>
                <a:cs typeface="Arial" pitchFamily="34" charset="-120"/>
              </a:rPr>
              <a:t>Prices range from 8400 to 15M TND — heavy skew</a:t>
            </a:r>
            <a:endParaRPr lang="en-US" sz="900" dirty="0"/>
          </a:p>
        </p:txBody>
      </p:sp>
      <p:sp>
        <p:nvSpPr>
          <p:cNvPr id="19" name="Shape 17"/>
          <p:cNvSpPr/>
          <p:nvPr/>
        </p:nvSpPr>
        <p:spPr>
          <a:xfrm>
            <a:off x="228600" y="3895344"/>
            <a:ext cx="4663440" cy="66751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0" name="Shape 18"/>
          <p:cNvSpPr/>
          <p:nvPr/>
        </p:nvSpPr>
        <p:spPr>
          <a:xfrm>
            <a:off x="228600" y="3895344"/>
            <a:ext cx="54864" cy="667512"/>
          </a:xfrm>
          <a:prstGeom prst="rect">
            <a:avLst/>
          </a:prstGeom>
          <a:solidFill>
            <a:srgbClr val="CC0000"/>
          </a:solidFill>
          <a:ln w="12700">
            <a:solidFill>
              <a:srgbClr val="CC0000"/>
            </a:solidFill>
            <a:prstDash val="solid"/>
          </a:ln>
        </p:spPr>
        <p:txBody>
          <a:bodyPr/>
          <a:lstStyle/>
          <a:p>
            <a:endParaRPr lang="fr-FR"/>
          </a:p>
        </p:txBody>
      </p:sp>
      <p:sp>
        <p:nvSpPr>
          <p:cNvPr id="21" name="Text 19"/>
          <p:cNvSpPr/>
          <p:nvPr/>
        </p:nvSpPr>
        <p:spPr>
          <a:xfrm>
            <a:off x="384048" y="3941064"/>
            <a:ext cx="4389120" cy="246888"/>
          </a:xfrm>
          <a:prstGeom prst="rect">
            <a:avLst/>
          </a:prstGeom>
          <a:noFill/>
          <a:ln/>
        </p:spPr>
        <p:txBody>
          <a:bodyPr wrap="square" lIns="0" tIns="0" rIns="0" bIns="0" rtlCol="0" anchor="ctr"/>
          <a:lstStyle/>
          <a:p>
            <a:pPr marL="0" indent="0" algn="l">
              <a:buNone/>
            </a:pPr>
            <a:r>
              <a:rPr lang="en-US" sz="1000" b="1" dirty="0">
                <a:solidFill>
                  <a:srgbClr val="FF1A1A"/>
                </a:solidFill>
                <a:latin typeface="Arial Black" pitchFamily="34" charset="0"/>
                <a:ea typeface="Arial Black" pitchFamily="34" charset="-122"/>
                <a:cs typeface="Arial Black" pitchFamily="34" charset="-120"/>
              </a:rPr>
              <a:t>LOCATION SENSITIVITY</a:t>
            </a:r>
            <a:endParaRPr lang="en-US" sz="1000" dirty="0"/>
          </a:p>
        </p:txBody>
      </p:sp>
      <p:sp>
        <p:nvSpPr>
          <p:cNvPr id="22" name="Text 20"/>
          <p:cNvSpPr/>
          <p:nvPr/>
        </p:nvSpPr>
        <p:spPr>
          <a:xfrm>
            <a:off x="384048" y="4215384"/>
            <a:ext cx="4389120" cy="246888"/>
          </a:xfrm>
          <a:prstGeom prst="rect">
            <a:avLst/>
          </a:prstGeom>
          <a:noFill/>
          <a:ln/>
        </p:spPr>
        <p:txBody>
          <a:bodyPr wrap="square" lIns="0" tIns="0" rIns="0" bIns="0" rtlCol="0" anchor="ctr"/>
          <a:lstStyle/>
          <a:p>
            <a:pPr marL="0" indent="0" algn="l">
              <a:buNone/>
            </a:pPr>
            <a:r>
              <a:rPr lang="en-US" sz="900" dirty="0">
                <a:solidFill>
                  <a:srgbClr val="AAAAAA"/>
                </a:solidFill>
                <a:latin typeface="Arial" pitchFamily="34" charset="0"/>
                <a:ea typeface="Arial" pitchFamily="34" charset="-122"/>
                <a:cs typeface="Arial" pitchFamily="34" charset="-120"/>
              </a:rPr>
              <a:t>Same surface, 10× price difference by zone</a:t>
            </a:r>
            <a:endParaRPr lang="en-US" sz="900" dirty="0"/>
          </a:p>
        </p:txBody>
      </p:sp>
      <p:sp>
        <p:nvSpPr>
          <p:cNvPr id="23" name="Shape 21"/>
          <p:cNvSpPr/>
          <p:nvPr/>
        </p:nvSpPr>
        <p:spPr>
          <a:xfrm>
            <a:off x="5303520" y="347472"/>
            <a:ext cx="3566160" cy="4517136"/>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4" name="Shape 22"/>
          <p:cNvSpPr/>
          <p:nvPr/>
        </p:nvSpPr>
        <p:spPr>
          <a:xfrm>
            <a:off x="5303520" y="347472"/>
            <a:ext cx="3566160" cy="36576"/>
          </a:xfrm>
          <a:prstGeom prst="rect">
            <a:avLst/>
          </a:prstGeom>
          <a:solidFill>
            <a:srgbClr val="CC0000"/>
          </a:solidFill>
          <a:ln w="12700">
            <a:solidFill>
              <a:srgbClr val="CC0000"/>
            </a:solidFill>
            <a:prstDash val="solid"/>
          </a:ln>
        </p:spPr>
        <p:txBody>
          <a:bodyPr/>
          <a:lstStyle/>
          <a:p>
            <a:endParaRPr lang="fr-FR"/>
          </a:p>
        </p:txBody>
      </p:sp>
      <p:sp>
        <p:nvSpPr>
          <p:cNvPr id="25" name="Text 23"/>
          <p:cNvSpPr/>
          <p:nvPr/>
        </p:nvSpPr>
        <p:spPr>
          <a:xfrm>
            <a:off x="5349240" y="475488"/>
            <a:ext cx="3474720" cy="256032"/>
          </a:xfrm>
          <a:prstGeom prst="rect">
            <a:avLst/>
          </a:prstGeom>
          <a:noFill/>
          <a:ln/>
        </p:spPr>
        <p:txBody>
          <a:bodyPr wrap="square" lIns="0" tIns="0" rIns="0" bIns="0" rtlCol="0" anchor="ctr"/>
          <a:lstStyle/>
          <a:p>
            <a:pPr marL="0" indent="0" algn="ctr">
              <a:buNone/>
            </a:pPr>
            <a:r>
              <a:rPr lang="en-US" sz="900" b="1" kern="0" spc="300" dirty="0">
                <a:solidFill>
                  <a:srgbClr val="CC0000"/>
                </a:solidFill>
                <a:latin typeface="Arial Black" pitchFamily="34" charset="0"/>
                <a:ea typeface="Arial Black" pitchFamily="34" charset="-122"/>
                <a:cs typeface="Arial Black" pitchFamily="34" charset="-120"/>
              </a:rPr>
              <a:t>NATIONAL COVERAGE</a:t>
            </a:r>
            <a:endParaRPr lang="en-US" sz="900" dirty="0"/>
          </a:p>
        </p:txBody>
      </p:sp>
      <p:sp>
        <p:nvSpPr>
          <p:cNvPr id="26" name="Shape 24"/>
          <p:cNvSpPr/>
          <p:nvPr/>
        </p:nvSpPr>
        <p:spPr>
          <a:xfrm>
            <a:off x="5577840" y="914400"/>
            <a:ext cx="1097280" cy="365760"/>
          </a:xfrm>
          <a:prstGeom prst="rect">
            <a:avLst/>
          </a:prstGeom>
          <a:solidFill>
            <a:srgbClr val="CC0000"/>
          </a:solidFill>
          <a:ln w="6350">
            <a:solidFill>
              <a:srgbClr val="222222"/>
            </a:solidFill>
            <a:prstDash val="solid"/>
          </a:ln>
        </p:spPr>
        <p:txBody>
          <a:bodyPr/>
          <a:lstStyle/>
          <a:p>
            <a:endParaRPr lang="fr-FR"/>
          </a:p>
        </p:txBody>
      </p:sp>
      <p:sp>
        <p:nvSpPr>
          <p:cNvPr id="27" name="Text 25"/>
          <p:cNvSpPr/>
          <p:nvPr/>
        </p:nvSpPr>
        <p:spPr>
          <a:xfrm>
            <a:off x="5577840" y="914400"/>
            <a:ext cx="1097280" cy="365760"/>
          </a:xfrm>
          <a:prstGeom prst="rect">
            <a:avLst/>
          </a:prstGeom>
          <a:noFill/>
          <a:ln/>
        </p:spPr>
        <p:txBody>
          <a:bodyPr wrap="square" lIns="0" tIns="0" rIns="0" bIns="0" rtlCol="0" anchor="ctr"/>
          <a:lstStyle/>
          <a:p>
            <a:pPr marL="0" indent="0" algn="ctr">
              <a:buNone/>
            </a:pPr>
            <a:r>
              <a:rPr lang="en-US" sz="600" b="1" dirty="0">
                <a:solidFill>
                  <a:srgbClr val="FFFFFF"/>
                </a:solidFill>
                <a:latin typeface="Arial Black" pitchFamily="34" charset="0"/>
                <a:ea typeface="Arial Black" pitchFamily="34" charset="-122"/>
                <a:cs typeface="Arial Black" pitchFamily="34" charset="-120"/>
              </a:rPr>
              <a:t>TUNIS</a:t>
            </a:r>
            <a:endParaRPr lang="en-US" sz="600" dirty="0"/>
          </a:p>
        </p:txBody>
      </p:sp>
      <p:sp>
        <p:nvSpPr>
          <p:cNvPr id="28" name="Shape 26"/>
          <p:cNvSpPr/>
          <p:nvPr/>
        </p:nvSpPr>
        <p:spPr>
          <a:xfrm>
            <a:off x="5577840" y="1371600"/>
            <a:ext cx="914400" cy="320040"/>
          </a:xfrm>
          <a:prstGeom prst="rect">
            <a:avLst/>
          </a:prstGeom>
          <a:solidFill>
            <a:srgbClr val="CC0000"/>
          </a:solidFill>
          <a:ln w="6350">
            <a:solidFill>
              <a:srgbClr val="222222"/>
            </a:solidFill>
            <a:prstDash val="solid"/>
          </a:ln>
        </p:spPr>
        <p:txBody>
          <a:bodyPr/>
          <a:lstStyle/>
          <a:p>
            <a:endParaRPr lang="fr-FR"/>
          </a:p>
        </p:txBody>
      </p:sp>
      <p:sp>
        <p:nvSpPr>
          <p:cNvPr id="29" name="Text 27"/>
          <p:cNvSpPr/>
          <p:nvPr/>
        </p:nvSpPr>
        <p:spPr>
          <a:xfrm>
            <a:off x="5577840" y="1371600"/>
            <a:ext cx="914400" cy="320040"/>
          </a:xfrm>
          <a:prstGeom prst="rect">
            <a:avLst/>
          </a:prstGeom>
          <a:noFill/>
          <a:ln/>
        </p:spPr>
        <p:txBody>
          <a:bodyPr wrap="square" lIns="0" tIns="0" rIns="0" bIns="0" rtlCol="0" anchor="ctr"/>
          <a:lstStyle/>
          <a:p>
            <a:pPr marL="0" indent="0" algn="ctr">
              <a:buNone/>
            </a:pPr>
            <a:r>
              <a:rPr lang="en-US" sz="600" b="1" dirty="0">
                <a:solidFill>
                  <a:srgbClr val="FFFFFF"/>
                </a:solidFill>
                <a:latin typeface="Arial Black" pitchFamily="34" charset="0"/>
                <a:ea typeface="Arial Black" pitchFamily="34" charset="-122"/>
                <a:cs typeface="Arial Black" pitchFamily="34" charset="-120"/>
              </a:rPr>
              <a:t>ARIANA</a:t>
            </a:r>
            <a:endParaRPr lang="en-US" sz="600" dirty="0"/>
          </a:p>
        </p:txBody>
      </p:sp>
      <p:sp>
        <p:nvSpPr>
          <p:cNvPr id="30" name="Shape 28"/>
          <p:cNvSpPr/>
          <p:nvPr/>
        </p:nvSpPr>
        <p:spPr>
          <a:xfrm>
            <a:off x="6766560" y="914400"/>
            <a:ext cx="914400" cy="320040"/>
          </a:xfrm>
          <a:prstGeom prst="rect">
            <a:avLst/>
          </a:prstGeom>
          <a:solidFill>
            <a:srgbClr val="7A0000"/>
          </a:solidFill>
          <a:ln w="6350">
            <a:solidFill>
              <a:srgbClr val="222222"/>
            </a:solidFill>
            <a:prstDash val="solid"/>
          </a:ln>
        </p:spPr>
        <p:txBody>
          <a:bodyPr/>
          <a:lstStyle/>
          <a:p>
            <a:endParaRPr lang="fr-FR"/>
          </a:p>
        </p:txBody>
      </p:sp>
      <p:sp>
        <p:nvSpPr>
          <p:cNvPr id="31" name="Text 29"/>
          <p:cNvSpPr/>
          <p:nvPr/>
        </p:nvSpPr>
        <p:spPr>
          <a:xfrm>
            <a:off x="6766560" y="914400"/>
            <a:ext cx="914400" cy="320040"/>
          </a:xfrm>
          <a:prstGeom prst="rect">
            <a:avLst/>
          </a:prstGeom>
          <a:noFill/>
          <a:ln/>
        </p:spPr>
        <p:txBody>
          <a:bodyPr wrap="square" lIns="0" tIns="0" rIns="0" bIns="0" rtlCol="0" anchor="ctr"/>
          <a:lstStyle/>
          <a:p>
            <a:pPr marL="0" indent="0" algn="ctr">
              <a:buNone/>
            </a:pPr>
            <a:r>
              <a:rPr lang="en-US" sz="600" b="1" dirty="0">
                <a:solidFill>
                  <a:srgbClr val="AAAAAA"/>
                </a:solidFill>
                <a:latin typeface="Arial Black" pitchFamily="34" charset="0"/>
                <a:ea typeface="Arial Black" pitchFamily="34" charset="-122"/>
                <a:cs typeface="Arial Black" pitchFamily="34" charset="-120"/>
              </a:rPr>
              <a:t>NABEUL</a:t>
            </a:r>
            <a:endParaRPr lang="en-US" sz="600" dirty="0"/>
          </a:p>
        </p:txBody>
      </p:sp>
      <p:sp>
        <p:nvSpPr>
          <p:cNvPr id="32" name="Shape 30"/>
          <p:cNvSpPr/>
          <p:nvPr/>
        </p:nvSpPr>
        <p:spPr>
          <a:xfrm>
            <a:off x="5577840" y="1828800"/>
            <a:ext cx="1371600" cy="320040"/>
          </a:xfrm>
          <a:prstGeom prst="rect">
            <a:avLst/>
          </a:prstGeom>
          <a:solidFill>
            <a:srgbClr val="7A0000"/>
          </a:solidFill>
          <a:ln w="6350">
            <a:solidFill>
              <a:srgbClr val="222222"/>
            </a:solidFill>
            <a:prstDash val="solid"/>
          </a:ln>
        </p:spPr>
        <p:txBody>
          <a:bodyPr/>
          <a:lstStyle/>
          <a:p>
            <a:endParaRPr lang="fr-FR"/>
          </a:p>
        </p:txBody>
      </p:sp>
      <p:sp>
        <p:nvSpPr>
          <p:cNvPr id="33" name="Text 31"/>
          <p:cNvSpPr/>
          <p:nvPr/>
        </p:nvSpPr>
        <p:spPr>
          <a:xfrm>
            <a:off x="5577840" y="1828800"/>
            <a:ext cx="1371600" cy="320040"/>
          </a:xfrm>
          <a:prstGeom prst="rect">
            <a:avLst/>
          </a:prstGeom>
          <a:noFill/>
          <a:ln/>
        </p:spPr>
        <p:txBody>
          <a:bodyPr wrap="square" lIns="0" tIns="0" rIns="0" bIns="0" rtlCol="0" anchor="ctr"/>
          <a:lstStyle/>
          <a:p>
            <a:pPr marL="0" indent="0" algn="ctr">
              <a:buNone/>
            </a:pPr>
            <a:r>
              <a:rPr lang="en-US" sz="600" b="1" dirty="0">
                <a:solidFill>
                  <a:srgbClr val="AAAAAA"/>
                </a:solidFill>
                <a:latin typeface="Arial Black" pitchFamily="34" charset="0"/>
                <a:ea typeface="Arial Black" pitchFamily="34" charset="-122"/>
                <a:cs typeface="Arial Black" pitchFamily="34" charset="-120"/>
              </a:rPr>
              <a:t>SOUSSE</a:t>
            </a:r>
            <a:endParaRPr lang="en-US" sz="600" dirty="0"/>
          </a:p>
        </p:txBody>
      </p:sp>
      <p:sp>
        <p:nvSpPr>
          <p:cNvPr id="34" name="Shape 32"/>
          <p:cNvSpPr/>
          <p:nvPr/>
        </p:nvSpPr>
        <p:spPr>
          <a:xfrm>
            <a:off x="7040880" y="1737360"/>
            <a:ext cx="731520" cy="320040"/>
          </a:xfrm>
          <a:prstGeom prst="rect">
            <a:avLst/>
          </a:prstGeom>
          <a:solidFill>
            <a:srgbClr val="7A0000"/>
          </a:solidFill>
          <a:ln w="6350">
            <a:solidFill>
              <a:srgbClr val="222222"/>
            </a:solidFill>
            <a:prstDash val="solid"/>
          </a:ln>
        </p:spPr>
        <p:txBody>
          <a:bodyPr/>
          <a:lstStyle/>
          <a:p>
            <a:endParaRPr lang="fr-FR"/>
          </a:p>
        </p:txBody>
      </p:sp>
      <p:sp>
        <p:nvSpPr>
          <p:cNvPr id="35" name="Text 33"/>
          <p:cNvSpPr/>
          <p:nvPr/>
        </p:nvSpPr>
        <p:spPr>
          <a:xfrm>
            <a:off x="7040880" y="1737360"/>
            <a:ext cx="731520" cy="320040"/>
          </a:xfrm>
          <a:prstGeom prst="rect">
            <a:avLst/>
          </a:prstGeom>
          <a:noFill/>
          <a:ln/>
        </p:spPr>
        <p:txBody>
          <a:bodyPr wrap="square" lIns="0" tIns="0" rIns="0" bIns="0" rtlCol="0" anchor="ctr"/>
          <a:lstStyle/>
          <a:p>
            <a:pPr marL="0" indent="0" algn="ctr">
              <a:buNone/>
            </a:pPr>
            <a:r>
              <a:rPr lang="en-US" sz="600" b="1" dirty="0">
                <a:solidFill>
                  <a:srgbClr val="AAAAAA"/>
                </a:solidFill>
                <a:latin typeface="Arial Black" pitchFamily="34" charset="0"/>
                <a:ea typeface="Arial Black" pitchFamily="34" charset="-122"/>
                <a:cs typeface="Arial Black" pitchFamily="34" charset="-120"/>
              </a:rPr>
              <a:t>MONASTIR</a:t>
            </a:r>
            <a:endParaRPr lang="en-US" sz="600" dirty="0"/>
          </a:p>
        </p:txBody>
      </p:sp>
      <p:sp>
        <p:nvSpPr>
          <p:cNvPr id="36" name="Shape 34"/>
          <p:cNvSpPr/>
          <p:nvPr/>
        </p:nvSpPr>
        <p:spPr>
          <a:xfrm>
            <a:off x="5577840" y="2286000"/>
            <a:ext cx="1097280" cy="320040"/>
          </a:xfrm>
          <a:prstGeom prst="rect">
            <a:avLst/>
          </a:prstGeom>
          <a:solidFill>
            <a:srgbClr val="7A0000"/>
          </a:solidFill>
          <a:ln w="6350">
            <a:solidFill>
              <a:srgbClr val="222222"/>
            </a:solidFill>
            <a:prstDash val="solid"/>
          </a:ln>
        </p:spPr>
        <p:txBody>
          <a:bodyPr/>
          <a:lstStyle/>
          <a:p>
            <a:endParaRPr lang="fr-FR"/>
          </a:p>
        </p:txBody>
      </p:sp>
      <p:sp>
        <p:nvSpPr>
          <p:cNvPr id="37" name="Text 35"/>
          <p:cNvSpPr/>
          <p:nvPr/>
        </p:nvSpPr>
        <p:spPr>
          <a:xfrm>
            <a:off x="5577840" y="2286000"/>
            <a:ext cx="1097280" cy="320040"/>
          </a:xfrm>
          <a:prstGeom prst="rect">
            <a:avLst/>
          </a:prstGeom>
          <a:noFill/>
          <a:ln/>
        </p:spPr>
        <p:txBody>
          <a:bodyPr wrap="square" lIns="0" tIns="0" rIns="0" bIns="0" rtlCol="0" anchor="ctr"/>
          <a:lstStyle/>
          <a:p>
            <a:pPr marL="0" indent="0" algn="ctr">
              <a:buNone/>
            </a:pPr>
            <a:r>
              <a:rPr lang="en-US" sz="600" b="1" dirty="0">
                <a:solidFill>
                  <a:srgbClr val="AAAAAA"/>
                </a:solidFill>
                <a:latin typeface="Arial Black" pitchFamily="34" charset="0"/>
                <a:ea typeface="Arial Black" pitchFamily="34" charset="-122"/>
                <a:cs typeface="Arial Black" pitchFamily="34" charset="-120"/>
              </a:rPr>
              <a:t>SFAX</a:t>
            </a:r>
            <a:endParaRPr lang="en-US" sz="600" dirty="0"/>
          </a:p>
        </p:txBody>
      </p:sp>
      <p:sp>
        <p:nvSpPr>
          <p:cNvPr id="38" name="Shape 36"/>
          <p:cNvSpPr/>
          <p:nvPr/>
        </p:nvSpPr>
        <p:spPr>
          <a:xfrm>
            <a:off x="5577840" y="2743200"/>
            <a:ext cx="914400" cy="320040"/>
          </a:xfrm>
          <a:prstGeom prst="rect">
            <a:avLst/>
          </a:prstGeom>
          <a:solidFill>
            <a:srgbClr val="2A2A2A"/>
          </a:solidFill>
          <a:ln w="6350">
            <a:solidFill>
              <a:srgbClr val="222222"/>
            </a:solidFill>
            <a:prstDash val="solid"/>
          </a:ln>
        </p:spPr>
        <p:txBody>
          <a:bodyPr/>
          <a:lstStyle/>
          <a:p>
            <a:endParaRPr lang="fr-FR"/>
          </a:p>
        </p:txBody>
      </p:sp>
      <p:sp>
        <p:nvSpPr>
          <p:cNvPr id="39" name="Text 37"/>
          <p:cNvSpPr/>
          <p:nvPr/>
        </p:nvSpPr>
        <p:spPr>
          <a:xfrm>
            <a:off x="5577840" y="2743200"/>
            <a:ext cx="914400" cy="320040"/>
          </a:xfrm>
          <a:prstGeom prst="rect">
            <a:avLst/>
          </a:prstGeom>
          <a:noFill/>
          <a:ln/>
        </p:spPr>
        <p:txBody>
          <a:bodyPr wrap="square" lIns="0" tIns="0" rIns="0" bIns="0" rtlCol="0" anchor="ctr"/>
          <a:lstStyle/>
          <a:p>
            <a:pPr marL="0" indent="0" algn="ctr">
              <a:buNone/>
            </a:pPr>
            <a:r>
              <a:rPr lang="en-US" sz="600" b="1" dirty="0">
                <a:solidFill>
                  <a:srgbClr val="555555"/>
                </a:solidFill>
                <a:latin typeface="Arial Black" pitchFamily="34" charset="0"/>
                <a:ea typeface="Arial Black" pitchFamily="34" charset="-122"/>
                <a:cs typeface="Arial Black" pitchFamily="34" charset="-120"/>
              </a:rPr>
              <a:t>GABES</a:t>
            </a:r>
            <a:endParaRPr lang="en-US" sz="600" dirty="0"/>
          </a:p>
        </p:txBody>
      </p:sp>
      <p:sp>
        <p:nvSpPr>
          <p:cNvPr id="40" name="Shape 38"/>
          <p:cNvSpPr/>
          <p:nvPr/>
        </p:nvSpPr>
        <p:spPr>
          <a:xfrm>
            <a:off x="6720840" y="2598202"/>
            <a:ext cx="1005840" cy="320040"/>
          </a:xfrm>
          <a:prstGeom prst="rect">
            <a:avLst/>
          </a:prstGeom>
          <a:solidFill>
            <a:srgbClr val="2A2A2A"/>
          </a:solidFill>
          <a:ln w="6350">
            <a:solidFill>
              <a:srgbClr val="222222"/>
            </a:solidFill>
            <a:prstDash val="solid"/>
          </a:ln>
        </p:spPr>
        <p:txBody>
          <a:bodyPr/>
          <a:lstStyle/>
          <a:p>
            <a:endParaRPr lang="fr-FR"/>
          </a:p>
        </p:txBody>
      </p:sp>
      <p:sp>
        <p:nvSpPr>
          <p:cNvPr id="41" name="Text 39"/>
          <p:cNvSpPr/>
          <p:nvPr/>
        </p:nvSpPr>
        <p:spPr>
          <a:xfrm>
            <a:off x="6583680" y="2560320"/>
            <a:ext cx="1005840" cy="320040"/>
          </a:xfrm>
          <a:prstGeom prst="rect">
            <a:avLst/>
          </a:prstGeom>
          <a:noFill/>
          <a:ln/>
        </p:spPr>
        <p:txBody>
          <a:bodyPr wrap="square" lIns="0" tIns="0" rIns="0" bIns="0" rtlCol="0" anchor="ctr"/>
          <a:lstStyle/>
          <a:p>
            <a:pPr marL="0" indent="0" algn="ctr">
              <a:buNone/>
            </a:pPr>
            <a:r>
              <a:rPr lang="en-US" sz="600" b="1" dirty="0">
                <a:solidFill>
                  <a:srgbClr val="555555"/>
                </a:solidFill>
                <a:latin typeface="Arial Black" pitchFamily="34" charset="0"/>
                <a:ea typeface="Arial Black" pitchFamily="34" charset="-122"/>
                <a:cs typeface="Arial Black" pitchFamily="34" charset="-120"/>
              </a:rPr>
              <a:t>MEDENINE</a:t>
            </a:r>
            <a:endParaRPr lang="en-US" sz="600" dirty="0"/>
          </a:p>
        </p:txBody>
      </p:sp>
      <p:sp>
        <p:nvSpPr>
          <p:cNvPr id="42" name="Shape 40"/>
          <p:cNvSpPr/>
          <p:nvPr/>
        </p:nvSpPr>
        <p:spPr>
          <a:xfrm>
            <a:off x="5577840" y="3200400"/>
            <a:ext cx="1188720" cy="320040"/>
          </a:xfrm>
          <a:prstGeom prst="rect">
            <a:avLst/>
          </a:prstGeom>
          <a:solidFill>
            <a:srgbClr val="2A2A2A"/>
          </a:solidFill>
          <a:ln w="6350">
            <a:solidFill>
              <a:srgbClr val="222222"/>
            </a:solidFill>
            <a:prstDash val="solid"/>
          </a:ln>
        </p:spPr>
        <p:txBody>
          <a:bodyPr/>
          <a:lstStyle/>
          <a:p>
            <a:endParaRPr lang="fr-FR"/>
          </a:p>
        </p:txBody>
      </p:sp>
      <p:sp>
        <p:nvSpPr>
          <p:cNvPr id="43" name="Text 41"/>
          <p:cNvSpPr/>
          <p:nvPr/>
        </p:nvSpPr>
        <p:spPr>
          <a:xfrm>
            <a:off x="5577840" y="3200400"/>
            <a:ext cx="1188720" cy="320040"/>
          </a:xfrm>
          <a:prstGeom prst="rect">
            <a:avLst/>
          </a:prstGeom>
          <a:noFill/>
          <a:ln/>
        </p:spPr>
        <p:txBody>
          <a:bodyPr wrap="square" lIns="0" tIns="0" rIns="0" bIns="0" rtlCol="0" anchor="ctr"/>
          <a:lstStyle/>
          <a:p>
            <a:pPr marL="0" indent="0" algn="ctr">
              <a:buNone/>
            </a:pPr>
            <a:r>
              <a:rPr lang="en-US" sz="600" b="1" dirty="0">
                <a:solidFill>
                  <a:srgbClr val="555555"/>
                </a:solidFill>
                <a:latin typeface="Arial Black" pitchFamily="34" charset="0"/>
                <a:ea typeface="Arial Black" pitchFamily="34" charset="-122"/>
                <a:cs typeface="Arial Black" pitchFamily="34" charset="-120"/>
              </a:rPr>
              <a:t>GAFSA</a:t>
            </a:r>
            <a:endParaRPr lang="en-US" sz="600" dirty="0"/>
          </a:p>
        </p:txBody>
      </p:sp>
      <p:sp>
        <p:nvSpPr>
          <p:cNvPr id="44" name="Shape 42"/>
          <p:cNvSpPr/>
          <p:nvPr/>
        </p:nvSpPr>
        <p:spPr>
          <a:xfrm>
            <a:off x="6858000" y="3108960"/>
            <a:ext cx="914400" cy="320040"/>
          </a:xfrm>
          <a:prstGeom prst="rect">
            <a:avLst/>
          </a:prstGeom>
          <a:solidFill>
            <a:srgbClr val="2A2A2A"/>
          </a:solidFill>
          <a:ln w="6350">
            <a:solidFill>
              <a:srgbClr val="222222"/>
            </a:solidFill>
            <a:prstDash val="solid"/>
          </a:ln>
        </p:spPr>
        <p:txBody>
          <a:bodyPr/>
          <a:lstStyle/>
          <a:p>
            <a:endParaRPr lang="fr-FR"/>
          </a:p>
        </p:txBody>
      </p:sp>
      <p:sp>
        <p:nvSpPr>
          <p:cNvPr id="45" name="Text 43"/>
          <p:cNvSpPr/>
          <p:nvPr/>
        </p:nvSpPr>
        <p:spPr>
          <a:xfrm>
            <a:off x="6858000" y="3108960"/>
            <a:ext cx="914400" cy="320040"/>
          </a:xfrm>
          <a:prstGeom prst="rect">
            <a:avLst/>
          </a:prstGeom>
          <a:noFill/>
          <a:ln/>
        </p:spPr>
        <p:txBody>
          <a:bodyPr wrap="square" lIns="0" tIns="0" rIns="0" bIns="0" rtlCol="0" anchor="ctr"/>
          <a:lstStyle/>
          <a:p>
            <a:pPr marL="0" indent="0" algn="ctr">
              <a:buNone/>
            </a:pPr>
            <a:r>
              <a:rPr lang="en-US" sz="600" b="1" dirty="0">
                <a:solidFill>
                  <a:srgbClr val="555555"/>
                </a:solidFill>
                <a:latin typeface="Arial Black" pitchFamily="34" charset="0"/>
                <a:ea typeface="Arial Black" pitchFamily="34" charset="-122"/>
                <a:cs typeface="Arial Black" pitchFamily="34" charset="-120"/>
              </a:rPr>
              <a:t>TOZEUR</a:t>
            </a:r>
            <a:endParaRPr lang="en-US" sz="600" dirty="0"/>
          </a:p>
        </p:txBody>
      </p:sp>
      <p:sp>
        <p:nvSpPr>
          <p:cNvPr id="46" name="Shape 44"/>
          <p:cNvSpPr/>
          <p:nvPr/>
        </p:nvSpPr>
        <p:spPr>
          <a:xfrm>
            <a:off x="5577840" y="3657600"/>
            <a:ext cx="1645920" cy="320040"/>
          </a:xfrm>
          <a:prstGeom prst="rect">
            <a:avLst/>
          </a:prstGeom>
          <a:solidFill>
            <a:srgbClr val="1A1A1A"/>
          </a:solidFill>
          <a:ln w="6350">
            <a:solidFill>
              <a:srgbClr val="222222"/>
            </a:solidFill>
            <a:prstDash val="solid"/>
          </a:ln>
        </p:spPr>
        <p:txBody>
          <a:bodyPr/>
          <a:lstStyle/>
          <a:p>
            <a:endParaRPr lang="fr-FR"/>
          </a:p>
        </p:txBody>
      </p:sp>
      <p:sp>
        <p:nvSpPr>
          <p:cNvPr id="47" name="Text 45"/>
          <p:cNvSpPr/>
          <p:nvPr/>
        </p:nvSpPr>
        <p:spPr>
          <a:xfrm>
            <a:off x="5577840" y="3657600"/>
            <a:ext cx="1645920" cy="320040"/>
          </a:xfrm>
          <a:prstGeom prst="rect">
            <a:avLst/>
          </a:prstGeom>
          <a:noFill/>
          <a:ln/>
        </p:spPr>
        <p:txBody>
          <a:bodyPr wrap="square" lIns="0" tIns="0" rIns="0" bIns="0" rtlCol="0" anchor="ctr"/>
          <a:lstStyle/>
          <a:p>
            <a:pPr marL="0" indent="0" algn="ctr">
              <a:buNone/>
            </a:pPr>
            <a:r>
              <a:rPr lang="en-US" sz="600" b="1" dirty="0">
                <a:solidFill>
                  <a:srgbClr val="333333"/>
                </a:solidFill>
                <a:latin typeface="Arial Black" pitchFamily="34" charset="0"/>
                <a:ea typeface="Arial Black" pitchFamily="34" charset="-122"/>
                <a:cs typeface="Arial Black" pitchFamily="34" charset="-120"/>
              </a:rPr>
              <a:t>TATAOUINE</a:t>
            </a:r>
            <a:endParaRPr lang="en-US" sz="600" dirty="0"/>
          </a:p>
        </p:txBody>
      </p:sp>
      <p:sp>
        <p:nvSpPr>
          <p:cNvPr id="48" name="Shape 46"/>
          <p:cNvSpPr/>
          <p:nvPr/>
        </p:nvSpPr>
        <p:spPr>
          <a:xfrm>
            <a:off x="5577840" y="4114800"/>
            <a:ext cx="1097280" cy="320040"/>
          </a:xfrm>
          <a:prstGeom prst="rect">
            <a:avLst/>
          </a:prstGeom>
          <a:solidFill>
            <a:srgbClr val="1A1A1A"/>
          </a:solidFill>
          <a:ln w="6350">
            <a:solidFill>
              <a:srgbClr val="222222"/>
            </a:solidFill>
            <a:prstDash val="solid"/>
          </a:ln>
        </p:spPr>
        <p:txBody>
          <a:bodyPr/>
          <a:lstStyle/>
          <a:p>
            <a:endParaRPr lang="fr-FR"/>
          </a:p>
        </p:txBody>
      </p:sp>
      <p:sp>
        <p:nvSpPr>
          <p:cNvPr id="49" name="Text 47"/>
          <p:cNvSpPr/>
          <p:nvPr/>
        </p:nvSpPr>
        <p:spPr>
          <a:xfrm>
            <a:off x="5577840" y="4114800"/>
            <a:ext cx="1097280" cy="320040"/>
          </a:xfrm>
          <a:prstGeom prst="rect">
            <a:avLst/>
          </a:prstGeom>
          <a:noFill/>
          <a:ln/>
        </p:spPr>
        <p:txBody>
          <a:bodyPr wrap="square" lIns="0" tIns="0" rIns="0" bIns="0" rtlCol="0" anchor="ctr"/>
          <a:lstStyle/>
          <a:p>
            <a:pPr marL="0" indent="0" algn="ctr">
              <a:buNone/>
            </a:pPr>
            <a:r>
              <a:rPr lang="en-US" sz="600" b="1" dirty="0">
                <a:solidFill>
                  <a:srgbClr val="333333"/>
                </a:solidFill>
                <a:latin typeface="Arial Black" pitchFamily="34" charset="0"/>
                <a:ea typeface="Arial Black" pitchFamily="34" charset="-122"/>
                <a:cs typeface="Arial Black" pitchFamily="34" charset="-120"/>
              </a:rPr>
              <a:t>KEBILI</a:t>
            </a:r>
            <a:endParaRPr lang="en-US" sz="600" dirty="0"/>
          </a:p>
        </p:txBody>
      </p:sp>
      <p:sp>
        <p:nvSpPr>
          <p:cNvPr id="50" name="Shape 48"/>
          <p:cNvSpPr/>
          <p:nvPr/>
        </p:nvSpPr>
        <p:spPr>
          <a:xfrm>
            <a:off x="5440680" y="4709160"/>
            <a:ext cx="109728" cy="109728"/>
          </a:xfrm>
          <a:prstGeom prst="rect">
            <a:avLst/>
          </a:prstGeom>
          <a:solidFill>
            <a:srgbClr val="CC0000"/>
          </a:solidFill>
          <a:ln w="12700">
            <a:solidFill>
              <a:srgbClr val="333333"/>
            </a:solidFill>
            <a:prstDash val="solid"/>
          </a:ln>
        </p:spPr>
        <p:txBody>
          <a:bodyPr/>
          <a:lstStyle/>
          <a:p>
            <a:endParaRPr lang="fr-FR"/>
          </a:p>
        </p:txBody>
      </p:sp>
      <p:sp>
        <p:nvSpPr>
          <p:cNvPr id="51" name="Text 49"/>
          <p:cNvSpPr/>
          <p:nvPr/>
        </p:nvSpPr>
        <p:spPr>
          <a:xfrm>
            <a:off x="5577840" y="4690872"/>
            <a:ext cx="731520" cy="137160"/>
          </a:xfrm>
          <a:prstGeom prst="rect">
            <a:avLst/>
          </a:prstGeom>
          <a:noFill/>
          <a:ln/>
        </p:spPr>
        <p:txBody>
          <a:bodyPr wrap="square" lIns="0" tIns="0" rIns="0" bIns="0" rtlCol="0" anchor="ctr"/>
          <a:lstStyle/>
          <a:p>
            <a:pPr marL="0" indent="0" algn="l">
              <a:buNone/>
            </a:pPr>
            <a:r>
              <a:rPr lang="en-US" sz="550" dirty="0">
                <a:solidFill>
                  <a:srgbClr val="555555"/>
                </a:solidFill>
                <a:latin typeface="Arial" pitchFamily="34" charset="0"/>
                <a:ea typeface="Arial" pitchFamily="34" charset="-122"/>
                <a:cs typeface="Arial" pitchFamily="34" charset="-120"/>
              </a:rPr>
              <a:t>HIGH DATA</a:t>
            </a:r>
            <a:endParaRPr lang="en-US" sz="550" dirty="0"/>
          </a:p>
        </p:txBody>
      </p:sp>
      <p:sp>
        <p:nvSpPr>
          <p:cNvPr id="52" name="Shape 50"/>
          <p:cNvSpPr/>
          <p:nvPr/>
        </p:nvSpPr>
        <p:spPr>
          <a:xfrm>
            <a:off x="6263640" y="4709160"/>
            <a:ext cx="109728" cy="109728"/>
          </a:xfrm>
          <a:prstGeom prst="rect">
            <a:avLst/>
          </a:prstGeom>
          <a:solidFill>
            <a:srgbClr val="7A0000"/>
          </a:solidFill>
          <a:ln w="12700">
            <a:solidFill>
              <a:srgbClr val="333333"/>
            </a:solidFill>
            <a:prstDash val="solid"/>
          </a:ln>
        </p:spPr>
        <p:txBody>
          <a:bodyPr/>
          <a:lstStyle/>
          <a:p>
            <a:endParaRPr lang="fr-FR"/>
          </a:p>
        </p:txBody>
      </p:sp>
      <p:sp>
        <p:nvSpPr>
          <p:cNvPr id="53" name="Text 51"/>
          <p:cNvSpPr/>
          <p:nvPr/>
        </p:nvSpPr>
        <p:spPr>
          <a:xfrm>
            <a:off x="6400800" y="4690872"/>
            <a:ext cx="731520" cy="137160"/>
          </a:xfrm>
          <a:prstGeom prst="rect">
            <a:avLst/>
          </a:prstGeom>
          <a:noFill/>
          <a:ln/>
        </p:spPr>
        <p:txBody>
          <a:bodyPr wrap="square" lIns="0" tIns="0" rIns="0" bIns="0" rtlCol="0" anchor="ctr"/>
          <a:lstStyle/>
          <a:p>
            <a:pPr marL="0" indent="0" algn="l">
              <a:buNone/>
            </a:pPr>
            <a:r>
              <a:rPr lang="en-US" sz="550" dirty="0">
                <a:solidFill>
                  <a:srgbClr val="555555"/>
                </a:solidFill>
                <a:latin typeface="Arial" pitchFamily="34" charset="0"/>
                <a:ea typeface="Arial" pitchFamily="34" charset="-122"/>
                <a:cs typeface="Arial" pitchFamily="34" charset="-120"/>
              </a:rPr>
              <a:t>MEDIUM</a:t>
            </a:r>
            <a:endParaRPr lang="en-US" sz="550" dirty="0"/>
          </a:p>
        </p:txBody>
      </p:sp>
      <p:sp>
        <p:nvSpPr>
          <p:cNvPr id="54" name="Shape 52"/>
          <p:cNvSpPr/>
          <p:nvPr/>
        </p:nvSpPr>
        <p:spPr>
          <a:xfrm>
            <a:off x="7086600" y="4709160"/>
            <a:ext cx="109728" cy="109728"/>
          </a:xfrm>
          <a:prstGeom prst="rect">
            <a:avLst/>
          </a:prstGeom>
          <a:solidFill>
            <a:srgbClr val="2A2A2A"/>
          </a:solidFill>
          <a:ln w="12700">
            <a:solidFill>
              <a:srgbClr val="333333"/>
            </a:solidFill>
            <a:prstDash val="solid"/>
          </a:ln>
        </p:spPr>
        <p:txBody>
          <a:bodyPr/>
          <a:lstStyle/>
          <a:p>
            <a:endParaRPr lang="fr-FR"/>
          </a:p>
        </p:txBody>
      </p:sp>
      <p:sp>
        <p:nvSpPr>
          <p:cNvPr id="55" name="Text 53"/>
          <p:cNvSpPr/>
          <p:nvPr/>
        </p:nvSpPr>
        <p:spPr>
          <a:xfrm>
            <a:off x="7223760" y="4690872"/>
            <a:ext cx="731520" cy="137160"/>
          </a:xfrm>
          <a:prstGeom prst="rect">
            <a:avLst/>
          </a:prstGeom>
          <a:noFill/>
          <a:ln/>
        </p:spPr>
        <p:txBody>
          <a:bodyPr wrap="square" lIns="0" tIns="0" rIns="0" bIns="0" rtlCol="0" anchor="ctr"/>
          <a:lstStyle/>
          <a:p>
            <a:pPr marL="0" indent="0" algn="l">
              <a:buNone/>
            </a:pPr>
            <a:r>
              <a:rPr lang="en-US" sz="550" dirty="0">
                <a:solidFill>
                  <a:srgbClr val="555555"/>
                </a:solidFill>
                <a:latin typeface="Arial" pitchFamily="34" charset="0"/>
                <a:ea typeface="Arial" pitchFamily="34" charset="-122"/>
                <a:cs typeface="Arial" pitchFamily="34" charset="-120"/>
              </a:rPr>
              <a:t>LOW</a:t>
            </a:r>
            <a:endParaRPr lang="en-US" sz="550" dirty="0"/>
          </a:p>
        </p:txBody>
      </p:sp>
      <p:sp>
        <p:nvSpPr>
          <p:cNvPr id="56" name="Shape 54"/>
          <p:cNvSpPr/>
          <p:nvPr/>
        </p:nvSpPr>
        <p:spPr>
          <a:xfrm>
            <a:off x="7909560" y="4709160"/>
            <a:ext cx="109728" cy="109728"/>
          </a:xfrm>
          <a:prstGeom prst="rect">
            <a:avLst/>
          </a:prstGeom>
          <a:solidFill>
            <a:srgbClr val="1A1A1A"/>
          </a:solidFill>
          <a:ln w="12700">
            <a:solidFill>
              <a:srgbClr val="333333"/>
            </a:solidFill>
            <a:prstDash val="solid"/>
          </a:ln>
        </p:spPr>
        <p:txBody>
          <a:bodyPr/>
          <a:lstStyle/>
          <a:p>
            <a:endParaRPr lang="fr-FR"/>
          </a:p>
        </p:txBody>
      </p:sp>
      <p:sp>
        <p:nvSpPr>
          <p:cNvPr id="57" name="Text 55"/>
          <p:cNvSpPr/>
          <p:nvPr/>
        </p:nvSpPr>
        <p:spPr>
          <a:xfrm>
            <a:off x="8046720" y="4690872"/>
            <a:ext cx="731520" cy="137160"/>
          </a:xfrm>
          <a:prstGeom prst="rect">
            <a:avLst/>
          </a:prstGeom>
          <a:noFill/>
          <a:ln/>
        </p:spPr>
        <p:txBody>
          <a:bodyPr wrap="square" lIns="0" tIns="0" rIns="0" bIns="0" rtlCol="0" anchor="ctr"/>
          <a:lstStyle/>
          <a:p>
            <a:pPr marL="0" indent="0" algn="l">
              <a:buNone/>
            </a:pPr>
            <a:r>
              <a:rPr lang="en-US" sz="550" dirty="0">
                <a:solidFill>
                  <a:srgbClr val="555555"/>
                </a:solidFill>
                <a:latin typeface="Arial" pitchFamily="34" charset="0"/>
                <a:ea typeface="Arial" pitchFamily="34" charset="-122"/>
                <a:cs typeface="Arial" pitchFamily="34" charset="-120"/>
              </a:rPr>
              <a:t>SPARSE</a:t>
            </a:r>
            <a:endParaRPr lang="en-US" sz="550" dirty="0"/>
          </a:p>
        </p:txBody>
      </p:sp>
      <p:sp>
        <p:nvSpPr>
          <p:cNvPr id="58" name="Shape 56"/>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4" name="Text 2"/>
          <p:cNvSpPr/>
          <p:nvPr/>
        </p:nvSpPr>
        <p:spPr>
          <a:xfrm>
            <a:off x="228600" y="73152"/>
            <a:ext cx="45720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03  /  DATA PIPELINE</a:t>
            </a:r>
            <a:endParaRPr lang="en-US" sz="700" dirty="0"/>
          </a:p>
        </p:txBody>
      </p:sp>
      <p:sp>
        <p:nvSpPr>
          <p:cNvPr id="5" name="Text 3"/>
          <p:cNvSpPr/>
          <p:nvPr/>
        </p:nvSpPr>
        <p:spPr>
          <a:xfrm>
            <a:off x="228600" y="292608"/>
            <a:ext cx="8686800" cy="475488"/>
          </a:xfrm>
          <a:prstGeom prst="rect">
            <a:avLst/>
          </a:prstGeom>
          <a:noFill/>
          <a:ln/>
        </p:spPr>
        <p:txBody>
          <a:bodyPr wrap="square" lIns="0" tIns="0" rIns="0" bIns="0" rtlCol="0" anchor="ctr"/>
          <a:lstStyle/>
          <a:p>
            <a:pPr marL="0" indent="0" algn="l">
              <a:buNone/>
            </a:pPr>
            <a:r>
              <a:rPr lang="en-US" sz="2600" b="1" kern="0" spc="200" dirty="0">
                <a:solidFill>
                  <a:srgbClr val="FFFFFF"/>
                </a:solidFill>
                <a:latin typeface="Arial Black" pitchFamily="34" charset="0"/>
                <a:ea typeface="Arial Black" pitchFamily="34" charset="-122"/>
                <a:cs typeface="Arial Black" pitchFamily="34" charset="-120"/>
              </a:rPr>
              <a:t>FROM RAW TO TRAINING-READY</a:t>
            </a:r>
            <a:endParaRPr lang="en-US" sz="2600" dirty="0"/>
          </a:p>
        </p:txBody>
      </p:sp>
      <p:sp>
        <p:nvSpPr>
          <p:cNvPr id="6" name="Text 4"/>
          <p:cNvSpPr/>
          <p:nvPr/>
        </p:nvSpPr>
        <p:spPr>
          <a:xfrm>
            <a:off x="228600" y="786384"/>
            <a:ext cx="8686800" cy="219456"/>
          </a:xfrm>
          <a:prstGeom prst="rect">
            <a:avLst/>
          </a:prstGeom>
          <a:noFill/>
          <a:ln/>
        </p:spPr>
        <p:txBody>
          <a:bodyPr wrap="square" lIns="0" tIns="0" rIns="0" bIns="0" rtlCol="0" anchor="ctr"/>
          <a:lstStyle/>
          <a:p>
            <a:pPr marL="0" indent="0" algn="l">
              <a:buNone/>
            </a:pPr>
            <a:r>
              <a:rPr lang="en-US" sz="900" dirty="0">
                <a:solidFill>
                  <a:srgbClr val="AAAAAA"/>
                </a:solidFill>
                <a:latin typeface="Arial" pitchFamily="34" charset="0"/>
                <a:ea typeface="Arial" pitchFamily="34" charset="-122"/>
                <a:cs typeface="Arial" pitchFamily="34" charset="-120"/>
              </a:rPr>
              <a:t>46,401 raw rows ingested · cleaned to 13,831 · geo-aligned to 13,756 · 13,651 modeling-ready</a:t>
            </a:r>
            <a:endParaRPr lang="en-US" sz="900" dirty="0"/>
          </a:p>
        </p:txBody>
      </p:sp>
      <p:sp>
        <p:nvSpPr>
          <p:cNvPr id="7" name="Shape 5"/>
          <p:cNvSpPr/>
          <p:nvPr/>
        </p:nvSpPr>
        <p:spPr>
          <a:xfrm>
            <a:off x="228600" y="1143000"/>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8" name="Shape 6"/>
          <p:cNvSpPr/>
          <p:nvPr/>
        </p:nvSpPr>
        <p:spPr>
          <a:xfrm>
            <a:off x="228600" y="1143000"/>
            <a:ext cx="54864" cy="841248"/>
          </a:xfrm>
          <a:prstGeom prst="rect">
            <a:avLst/>
          </a:prstGeom>
          <a:solidFill>
            <a:srgbClr val="CC0000"/>
          </a:solidFill>
          <a:ln w="12700">
            <a:solidFill>
              <a:srgbClr val="CC0000"/>
            </a:solidFill>
            <a:prstDash val="solid"/>
          </a:ln>
        </p:spPr>
        <p:txBody>
          <a:bodyPr/>
          <a:lstStyle/>
          <a:p>
            <a:endParaRPr lang="fr-FR"/>
          </a:p>
        </p:txBody>
      </p:sp>
      <p:sp>
        <p:nvSpPr>
          <p:cNvPr id="9" name="Text 7"/>
          <p:cNvSpPr/>
          <p:nvPr/>
        </p:nvSpPr>
        <p:spPr>
          <a:xfrm>
            <a:off x="320040" y="1188720"/>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01</a:t>
            </a:r>
            <a:endParaRPr lang="en-US" sz="750" dirty="0"/>
          </a:p>
        </p:txBody>
      </p:sp>
      <p:sp>
        <p:nvSpPr>
          <p:cNvPr id="10" name="Text 8"/>
          <p:cNvSpPr/>
          <p:nvPr/>
        </p:nvSpPr>
        <p:spPr>
          <a:xfrm>
            <a:off x="704088" y="1179576"/>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DISCOVERY</a:t>
            </a:r>
            <a:endParaRPr lang="en-US" sz="1100" dirty="0"/>
          </a:p>
        </p:txBody>
      </p:sp>
      <p:sp>
        <p:nvSpPr>
          <p:cNvPr id="11" name="Text 9"/>
          <p:cNvSpPr/>
          <p:nvPr/>
        </p:nvSpPr>
        <p:spPr>
          <a:xfrm>
            <a:off x="356616" y="1453896"/>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3 raw CSVs with different schemas, encodings and column names. Auto-profiled for price, surface and location columns.</a:t>
            </a:r>
            <a:endParaRPr lang="en-US" sz="800" dirty="0"/>
          </a:p>
        </p:txBody>
      </p:sp>
      <p:sp>
        <p:nvSpPr>
          <p:cNvPr id="12" name="Shape 10"/>
          <p:cNvSpPr/>
          <p:nvPr/>
        </p:nvSpPr>
        <p:spPr>
          <a:xfrm>
            <a:off x="2308860" y="1984248"/>
            <a:ext cx="0" cy="128016"/>
          </a:xfrm>
          <a:prstGeom prst="line">
            <a:avLst/>
          </a:prstGeom>
          <a:noFill/>
          <a:ln w="12700">
            <a:solidFill>
              <a:srgbClr val="7A0000"/>
            </a:solidFill>
            <a:prstDash val="solid"/>
          </a:ln>
        </p:spPr>
        <p:txBody>
          <a:bodyPr/>
          <a:lstStyle/>
          <a:p>
            <a:endParaRPr lang="fr-FR"/>
          </a:p>
        </p:txBody>
      </p:sp>
      <p:sp>
        <p:nvSpPr>
          <p:cNvPr id="13" name="Shape 11"/>
          <p:cNvSpPr/>
          <p:nvPr/>
        </p:nvSpPr>
        <p:spPr>
          <a:xfrm>
            <a:off x="228600" y="2112264"/>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4" name="Shape 12"/>
          <p:cNvSpPr/>
          <p:nvPr/>
        </p:nvSpPr>
        <p:spPr>
          <a:xfrm>
            <a:off x="228600" y="2112264"/>
            <a:ext cx="54864" cy="841248"/>
          </a:xfrm>
          <a:prstGeom prst="rect">
            <a:avLst/>
          </a:prstGeom>
          <a:solidFill>
            <a:srgbClr val="CC0000"/>
          </a:solidFill>
          <a:ln w="12700">
            <a:solidFill>
              <a:srgbClr val="CC0000"/>
            </a:solidFill>
            <a:prstDash val="solid"/>
          </a:ln>
        </p:spPr>
        <p:txBody>
          <a:bodyPr/>
          <a:lstStyle/>
          <a:p>
            <a:endParaRPr lang="fr-FR"/>
          </a:p>
        </p:txBody>
      </p:sp>
      <p:sp>
        <p:nvSpPr>
          <p:cNvPr id="15" name="Text 13"/>
          <p:cNvSpPr/>
          <p:nvPr/>
        </p:nvSpPr>
        <p:spPr>
          <a:xfrm>
            <a:off x="320040" y="2157984"/>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02</a:t>
            </a:r>
            <a:endParaRPr lang="en-US" sz="750" dirty="0"/>
          </a:p>
        </p:txBody>
      </p:sp>
      <p:sp>
        <p:nvSpPr>
          <p:cNvPr id="16" name="Text 14"/>
          <p:cNvSpPr/>
          <p:nvPr/>
        </p:nvSpPr>
        <p:spPr>
          <a:xfrm>
            <a:off x="704088" y="2148840"/>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CLEANING</a:t>
            </a:r>
            <a:endParaRPr lang="en-US" sz="1100" dirty="0"/>
          </a:p>
        </p:txBody>
      </p:sp>
      <p:sp>
        <p:nvSpPr>
          <p:cNvPr id="17" name="Text 15"/>
          <p:cNvSpPr/>
          <p:nvPr/>
        </p:nvSpPr>
        <p:spPr>
          <a:xfrm>
            <a:off x="356616" y="2423160"/>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Encoding corruption (mojibake) repaired. Schema unified. Property-specific range filters applied. Invalids dropped.</a:t>
            </a:r>
            <a:endParaRPr lang="en-US" sz="800" dirty="0"/>
          </a:p>
        </p:txBody>
      </p:sp>
      <p:sp>
        <p:nvSpPr>
          <p:cNvPr id="18" name="Shape 16"/>
          <p:cNvSpPr/>
          <p:nvPr/>
        </p:nvSpPr>
        <p:spPr>
          <a:xfrm>
            <a:off x="2308860" y="2953512"/>
            <a:ext cx="0" cy="128016"/>
          </a:xfrm>
          <a:prstGeom prst="line">
            <a:avLst/>
          </a:prstGeom>
          <a:noFill/>
          <a:ln w="12700">
            <a:solidFill>
              <a:srgbClr val="7A0000"/>
            </a:solidFill>
            <a:prstDash val="solid"/>
          </a:ln>
        </p:spPr>
        <p:txBody>
          <a:bodyPr/>
          <a:lstStyle/>
          <a:p>
            <a:endParaRPr lang="fr-FR"/>
          </a:p>
        </p:txBody>
      </p:sp>
      <p:sp>
        <p:nvSpPr>
          <p:cNvPr id="19" name="Shape 17"/>
          <p:cNvSpPr/>
          <p:nvPr/>
        </p:nvSpPr>
        <p:spPr>
          <a:xfrm>
            <a:off x="228600" y="3081528"/>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0" name="Shape 18"/>
          <p:cNvSpPr/>
          <p:nvPr/>
        </p:nvSpPr>
        <p:spPr>
          <a:xfrm>
            <a:off x="228600" y="3081528"/>
            <a:ext cx="54864" cy="841248"/>
          </a:xfrm>
          <a:prstGeom prst="rect">
            <a:avLst/>
          </a:prstGeom>
          <a:solidFill>
            <a:srgbClr val="CC0000"/>
          </a:solidFill>
          <a:ln w="12700">
            <a:solidFill>
              <a:srgbClr val="CC0000"/>
            </a:solidFill>
            <a:prstDash val="solid"/>
          </a:ln>
        </p:spPr>
        <p:txBody>
          <a:bodyPr/>
          <a:lstStyle/>
          <a:p>
            <a:endParaRPr lang="fr-FR"/>
          </a:p>
        </p:txBody>
      </p:sp>
      <p:sp>
        <p:nvSpPr>
          <p:cNvPr id="21" name="Text 19"/>
          <p:cNvSpPr/>
          <p:nvPr/>
        </p:nvSpPr>
        <p:spPr>
          <a:xfrm>
            <a:off x="320040" y="3127248"/>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03</a:t>
            </a:r>
            <a:endParaRPr lang="en-US" sz="750" dirty="0"/>
          </a:p>
        </p:txBody>
      </p:sp>
      <p:sp>
        <p:nvSpPr>
          <p:cNvPr id="22" name="Text 20"/>
          <p:cNvSpPr/>
          <p:nvPr/>
        </p:nvSpPr>
        <p:spPr>
          <a:xfrm>
            <a:off x="704088" y="3118104"/>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MERGE</a:t>
            </a:r>
            <a:endParaRPr lang="en-US" sz="1100" dirty="0"/>
          </a:p>
        </p:txBody>
      </p:sp>
      <p:sp>
        <p:nvSpPr>
          <p:cNvPr id="23" name="Text 21"/>
          <p:cNvSpPr/>
          <p:nvPr/>
        </p:nvSpPr>
        <p:spPr>
          <a:xfrm>
            <a:off x="356616" y="3392424"/>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3 sources combined into one master frame. Cross-source duplicates removed by priority. 13,831 clean rows remain.</a:t>
            </a:r>
            <a:endParaRPr lang="en-US" sz="800" dirty="0"/>
          </a:p>
        </p:txBody>
      </p:sp>
      <p:sp>
        <p:nvSpPr>
          <p:cNvPr id="24" name="Shape 22"/>
          <p:cNvSpPr/>
          <p:nvPr/>
        </p:nvSpPr>
        <p:spPr>
          <a:xfrm>
            <a:off x="2308860" y="3922776"/>
            <a:ext cx="0" cy="128016"/>
          </a:xfrm>
          <a:prstGeom prst="line">
            <a:avLst/>
          </a:prstGeom>
          <a:noFill/>
          <a:ln w="12700">
            <a:solidFill>
              <a:srgbClr val="7A0000"/>
            </a:solidFill>
            <a:prstDash val="solid"/>
          </a:ln>
        </p:spPr>
        <p:txBody>
          <a:bodyPr/>
          <a:lstStyle/>
          <a:p>
            <a:endParaRPr lang="fr-FR"/>
          </a:p>
        </p:txBody>
      </p:sp>
      <p:sp>
        <p:nvSpPr>
          <p:cNvPr id="25" name="Shape 23"/>
          <p:cNvSpPr/>
          <p:nvPr/>
        </p:nvSpPr>
        <p:spPr>
          <a:xfrm>
            <a:off x="228600" y="4050792"/>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6" name="Shape 24"/>
          <p:cNvSpPr/>
          <p:nvPr/>
        </p:nvSpPr>
        <p:spPr>
          <a:xfrm>
            <a:off x="228600" y="4050792"/>
            <a:ext cx="54864" cy="841248"/>
          </a:xfrm>
          <a:prstGeom prst="rect">
            <a:avLst/>
          </a:prstGeom>
          <a:solidFill>
            <a:srgbClr val="CC0000"/>
          </a:solidFill>
          <a:ln w="12700">
            <a:solidFill>
              <a:srgbClr val="CC0000"/>
            </a:solidFill>
            <a:prstDash val="solid"/>
          </a:ln>
        </p:spPr>
        <p:txBody>
          <a:bodyPr/>
          <a:lstStyle/>
          <a:p>
            <a:endParaRPr lang="fr-FR"/>
          </a:p>
        </p:txBody>
      </p:sp>
      <p:sp>
        <p:nvSpPr>
          <p:cNvPr id="27" name="Text 25"/>
          <p:cNvSpPr/>
          <p:nvPr/>
        </p:nvSpPr>
        <p:spPr>
          <a:xfrm>
            <a:off x="320040" y="4096512"/>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04</a:t>
            </a:r>
            <a:endParaRPr lang="en-US" sz="750" dirty="0"/>
          </a:p>
        </p:txBody>
      </p:sp>
      <p:sp>
        <p:nvSpPr>
          <p:cNvPr id="28" name="Text 26"/>
          <p:cNvSpPr/>
          <p:nvPr/>
        </p:nvSpPr>
        <p:spPr>
          <a:xfrm>
            <a:off x="704088" y="4087368"/>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GEO ALIGN</a:t>
            </a:r>
            <a:endParaRPr lang="en-US" sz="1100" dirty="0"/>
          </a:p>
        </p:txBody>
      </p:sp>
      <p:sp>
        <p:nvSpPr>
          <p:cNvPr id="29" name="Text 27"/>
          <p:cNvSpPr/>
          <p:nvPr/>
        </p:nvSpPr>
        <p:spPr>
          <a:xfrm>
            <a:off x="356616" y="4361688"/>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Locality names fuzzy-matched to 264 official delegations. 13,756 rows land on the canonical atlas.</a:t>
            </a:r>
            <a:endParaRPr lang="en-US" sz="800" dirty="0"/>
          </a:p>
        </p:txBody>
      </p:sp>
      <p:sp>
        <p:nvSpPr>
          <p:cNvPr id="30" name="Shape 28"/>
          <p:cNvSpPr/>
          <p:nvPr/>
        </p:nvSpPr>
        <p:spPr>
          <a:xfrm>
            <a:off x="4709160" y="1143000"/>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31" name="Shape 29"/>
          <p:cNvSpPr/>
          <p:nvPr/>
        </p:nvSpPr>
        <p:spPr>
          <a:xfrm>
            <a:off x="4709160" y="1143000"/>
            <a:ext cx="54864" cy="841248"/>
          </a:xfrm>
          <a:prstGeom prst="rect">
            <a:avLst/>
          </a:prstGeom>
          <a:solidFill>
            <a:srgbClr val="7A0000"/>
          </a:solidFill>
          <a:ln w="12700">
            <a:solidFill>
              <a:srgbClr val="7A0000"/>
            </a:solidFill>
            <a:prstDash val="solid"/>
          </a:ln>
        </p:spPr>
        <p:txBody>
          <a:bodyPr/>
          <a:lstStyle/>
          <a:p>
            <a:endParaRPr lang="fr-FR"/>
          </a:p>
        </p:txBody>
      </p:sp>
      <p:sp>
        <p:nvSpPr>
          <p:cNvPr id="32" name="Text 30"/>
          <p:cNvSpPr/>
          <p:nvPr/>
        </p:nvSpPr>
        <p:spPr>
          <a:xfrm>
            <a:off x="4800600" y="1188720"/>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05</a:t>
            </a:r>
            <a:endParaRPr lang="en-US" sz="750" dirty="0"/>
          </a:p>
        </p:txBody>
      </p:sp>
      <p:sp>
        <p:nvSpPr>
          <p:cNvPr id="33" name="Text 31"/>
          <p:cNvSpPr/>
          <p:nvPr/>
        </p:nvSpPr>
        <p:spPr>
          <a:xfrm>
            <a:off x="5184648" y="1179576"/>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TRAINING DATA</a:t>
            </a:r>
            <a:endParaRPr lang="en-US" sz="1100" dirty="0"/>
          </a:p>
        </p:txBody>
      </p:sp>
      <p:sp>
        <p:nvSpPr>
          <p:cNvPr id="34" name="Text 32"/>
          <p:cNvSpPr/>
          <p:nvPr/>
        </p:nvSpPr>
        <p:spPr>
          <a:xfrm>
            <a:off x="4837176" y="1453896"/>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Price range filtered (8,400–15,600,000 TND). Train/test split applied. 13,651 rows enter the model pipeline.</a:t>
            </a:r>
            <a:endParaRPr lang="en-US" sz="800" dirty="0"/>
          </a:p>
        </p:txBody>
      </p:sp>
      <p:sp>
        <p:nvSpPr>
          <p:cNvPr id="35" name="Shape 33"/>
          <p:cNvSpPr/>
          <p:nvPr/>
        </p:nvSpPr>
        <p:spPr>
          <a:xfrm>
            <a:off x="6789420" y="1984248"/>
            <a:ext cx="0" cy="128016"/>
          </a:xfrm>
          <a:prstGeom prst="line">
            <a:avLst/>
          </a:prstGeom>
          <a:noFill/>
          <a:ln w="12700">
            <a:solidFill>
              <a:srgbClr val="7A0000"/>
            </a:solidFill>
            <a:prstDash val="solid"/>
          </a:ln>
        </p:spPr>
        <p:txBody>
          <a:bodyPr/>
          <a:lstStyle/>
          <a:p>
            <a:endParaRPr lang="fr-FR"/>
          </a:p>
        </p:txBody>
      </p:sp>
      <p:sp>
        <p:nvSpPr>
          <p:cNvPr id="36" name="Shape 34"/>
          <p:cNvSpPr/>
          <p:nvPr/>
        </p:nvSpPr>
        <p:spPr>
          <a:xfrm>
            <a:off x="4709160" y="2112264"/>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37" name="Shape 35"/>
          <p:cNvSpPr/>
          <p:nvPr/>
        </p:nvSpPr>
        <p:spPr>
          <a:xfrm>
            <a:off x="4709160" y="2112264"/>
            <a:ext cx="54864" cy="841248"/>
          </a:xfrm>
          <a:prstGeom prst="rect">
            <a:avLst/>
          </a:prstGeom>
          <a:solidFill>
            <a:srgbClr val="7A0000"/>
          </a:solidFill>
          <a:ln w="12700">
            <a:solidFill>
              <a:srgbClr val="7A0000"/>
            </a:solidFill>
            <a:prstDash val="solid"/>
          </a:ln>
        </p:spPr>
        <p:txBody>
          <a:bodyPr/>
          <a:lstStyle/>
          <a:p>
            <a:endParaRPr lang="fr-FR"/>
          </a:p>
        </p:txBody>
      </p:sp>
      <p:sp>
        <p:nvSpPr>
          <p:cNvPr id="38" name="Text 36"/>
          <p:cNvSpPr/>
          <p:nvPr/>
        </p:nvSpPr>
        <p:spPr>
          <a:xfrm>
            <a:off x="4800600" y="2157984"/>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06</a:t>
            </a:r>
            <a:endParaRPr lang="en-US" sz="750" dirty="0"/>
          </a:p>
        </p:txBody>
      </p:sp>
      <p:sp>
        <p:nvSpPr>
          <p:cNvPr id="39" name="Text 37"/>
          <p:cNvSpPr/>
          <p:nvPr/>
        </p:nvSpPr>
        <p:spPr>
          <a:xfrm>
            <a:off x="5184648" y="2148840"/>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FEATURES</a:t>
            </a:r>
            <a:endParaRPr lang="en-US" sz="1100" dirty="0"/>
          </a:p>
        </p:txBody>
      </p:sp>
      <p:sp>
        <p:nvSpPr>
          <p:cNvPr id="40" name="Text 38"/>
          <p:cNvSpPr/>
          <p:nvPr/>
        </p:nvSpPr>
        <p:spPr>
          <a:xfrm>
            <a:off x="4837176" y="2423160"/>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10 features engineered: target encoding, centroid coordinates, price ratio vs local median, one-hot categories.</a:t>
            </a:r>
            <a:endParaRPr lang="en-US" sz="800" dirty="0"/>
          </a:p>
        </p:txBody>
      </p:sp>
      <p:sp>
        <p:nvSpPr>
          <p:cNvPr id="41" name="Shape 39"/>
          <p:cNvSpPr/>
          <p:nvPr/>
        </p:nvSpPr>
        <p:spPr>
          <a:xfrm>
            <a:off x="6789420" y="2953512"/>
            <a:ext cx="0" cy="128016"/>
          </a:xfrm>
          <a:prstGeom prst="line">
            <a:avLst/>
          </a:prstGeom>
          <a:noFill/>
          <a:ln w="12700">
            <a:solidFill>
              <a:srgbClr val="7A0000"/>
            </a:solidFill>
            <a:prstDash val="solid"/>
          </a:ln>
        </p:spPr>
        <p:txBody>
          <a:bodyPr/>
          <a:lstStyle/>
          <a:p>
            <a:endParaRPr lang="fr-FR"/>
          </a:p>
        </p:txBody>
      </p:sp>
      <p:sp>
        <p:nvSpPr>
          <p:cNvPr id="42" name="Shape 40"/>
          <p:cNvSpPr/>
          <p:nvPr/>
        </p:nvSpPr>
        <p:spPr>
          <a:xfrm>
            <a:off x="4709160" y="3081528"/>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43" name="Shape 41"/>
          <p:cNvSpPr/>
          <p:nvPr/>
        </p:nvSpPr>
        <p:spPr>
          <a:xfrm>
            <a:off x="4709160" y="3081528"/>
            <a:ext cx="54864" cy="841248"/>
          </a:xfrm>
          <a:prstGeom prst="rect">
            <a:avLst/>
          </a:prstGeom>
          <a:solidFill>
            <a:srgbClr val="7A0000"/>
          </a:solidFill>
          <a:ln w="12700">
            <a:solidFill>
              <a:srgbClr val="7A0000"/>
            </a:solidFill>
            <a:prstDash val="solid"/>
          </a:ln>
        </p:spPr>
        <p:txBody>
          <a:bodyPr/>
          <a:lstStyle/>
          <a:p>
            <a:endParaRPr lang="fr-FR"/>
          </a:p>
        </p:txBody>
      </p:sp>
      <p:sp>
        <p:nvSpPr>
          <p:cNvPr id="44" name="Text 42"/>
          <p:cNvSpPr/>
          <p:nvPr/>
        </p:nvSpPr>
        <p:spPr>
          <a:xfrm>
            <a:off x="4800600" y="3127248"/>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07</a:t>
            </a:r>
            <a:endParaRPr lang="en-US" sz="750" dirty="0"/>
          </a:p>
        </p:txBody>
      </p:sp>
      <p:sp>
        <p:nvSpPr>
          <p:cNvPr id="45" name="Text 43"/>
          <p:cNvSpPr/>
          <p:nvPr/>
        </p:nvSpPr>
        <p:spPr>
          <a:xfrm>
            <a:off x="5184648" y="3118104"/>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VISUAL CHECK</a:t>
            </a:r>
            <a:endParaRPr lang="en-US" sz="1100" dirty="0"/>
          </a:p>
        </p:txBody>
      </p:sp>
      <p:sp>
        <p:nvSpPr>
          <p:cNvPr id="46" name="Text 44"/>
          <p:cNvSpPr/>
          <p:nvPr/>
        </p:nvSpPr>
        <p:spPr>
          <a:xfrm>
            <a:off x="4837176" y="3392424"/>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Distribution plots, outlier scans and geo coverage maps verified before training sign-off.</a:t>
            </a:r>
            <a:endParaRPr lang="en-US" sz="800" dirty="0"/>
          </a:p>
        </p:txBody>
      </p:sp>
      <p:sp>
        <p:nvSpPr>
          <p:cNvPr id="47" name="Shape 45"/>
          <p:cNvSpPr/>
          <p:nvPr/>
        </p:nvSpPr>
        <p:spPr>
          <a:xfrm>
            <a:off x="6789420" y="3922776"/>
            <a:ext cx="0" cy="128016"/>
          </a:xfrm>
          <a:prstGeom prst="line">
            <a:avLst/>
          </a:prstGeom>
          <a:noFill/>
          <a:ln w="12700">
            <a:solidFill>
              <a:srgbClr val="7A0000"/>
            </a:solidFill>
            <a:prstDash val="solid"/>
          </a:ln>
        </p:spPr>
        <p:txBody>
          <a:bodyPr/>
          <a:lstStyle/>
          <a:p>
            <a:endParaRPr lang="fr-FR"/>
          </a:p>
        </p:txBody>
      </p:sp>
      <p:sp>
        <p:nvSpPr>
          <p:cNvPr id="48" name="Shape 46"/>
          <p:cNvSpPr/>
          <p:nvPr/>
        </p:nvSpPr>
        <p:spPr>
          <a:xfrm>
            <a:off x="4709160" y="4050792"/>
            <a:ext cx="4160520" cy="841248"/>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49" name="Shape 47"/>
          <p:cNvSpPr/>
          <p:nvPr/>
        </p:nvSpPr>
        <p:spPr>
          <a:xfrm>
            <a:off x="4709160" y="4050792"/>
            <a:ext cx="54864" cy="841248"/>
          </a:xfrm>
          <a:prstGeom prst="rect">
            <a:avLst/>
          </a:prstGeom>
          <a:solidFill>
            <a:srgbClr val="7A0000"/>
          </a:solidFill>
          <a:ln w="12700">
            <a:solidFill>
              <a:srgbClr val="7A0000"/>
            </a:solidFill>
            <a:prstDash val="solid"/>
          </a:ln>
        </p:spPr>
        <p:txBody>
          <a:bodyPr/>
          <a:lstStyle/>
          <a:p>
            <a:endParaRPr lang="fr-FR"/>
          </a:p>
        </p:txBody>
      </p:sp>
      <p:sp>
        <p:nvSpPr>
          <p:cNvPr id="50" name="Text 48"/>
          <p:cNvSpPr/>
          <p:nvPr/>
        </p:nvSpPr>
        <p:spPr>
          <a:xfrm>
            <a:off x="4800600" y="4096512"/>
            <a:ext cx="365760" cy="182880"/>
          </a:xfrm>
          <a:prstGeom prst="rect">
            <a:avLst/>
          </a:prstGeom>
          <a:noFill/>
          <a:ln/>
        </p:spPr>
        <p:txBody>
          <a:bodyPr wrap="square" lIns="0" tIns="0" rIns="0" bIns="0" rtlCol="0" anchor="ctr"/>
          <a:lstStyle/>
          <a:p>
            <a:pPr marL="0" indent="0" algn="l">
              <a:buNone/>
            </a:pPr>
            <a:r>
              <a:rPr lang="en-US" sz="750" b="1" dirty="0">
                <a:solidFill>
                  <a:srgbClr val="CC0000"/>
                </a:solidFill>
                <a:latin typeface="Arial Black" pitchFamily="34" charset="0"/>
                <a:ea typeface="Arial Black" pitchFamily="34" charset="-122"/>
                <a:cs typeface="Arial Black" pitchFamily="34" charset="-120"/>
              </a:rPr>
              <a:t>08</a:t>
            </a:r>
            <a:endParaRPr lang="en-US" sz="750" dirty="0"/>
          </a:p>
        </p:txBody>
      </p:sp>
      <p:sp>
        <p:nvSpPr>
          <p:cNvPr id="51" name="Text 49"/>
          <p:cNvSpPr/>
          <p:nvPr/>
        </p:nvSpPr>
        <p:spPr>
          <a:xfrm>
            <a:off x="5184648" y="4087368"/>
            <a:ext cx="3566160" cy="237744"/>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MODELING</a:t>
            </a:r>
            <a:endParaRPr lang="en-US" sz="1100" dirty="0"/>
          </a:p>
        </p:txBody>
      </p:sp>
      <p:sp>
        <p:nvSpPr>
          <p:cNvPr id="52" name="Text 50"/>
          <p:cNvSpPr/>
          <p:nvPr/>
        </p:nvSpPr>
        <p:spPr>
          <a:xfrm>
            <a:off x="4837176" y="4361688"/>
            <a:ext cx="3931920" cy="475488"/>
          </a:xfrm>
          <a:prstGeom prst="rect">
            <a:avLst/>
          </a:prstGeom>
          <a:noFill/>
          <a:ln/>
        </p:spPr>
        <p:txBody>
          <a:bodyPr wrap="square" lIns="0" tIns="0" rIns="0" bIns="0" rtlCol="0" anchor="ctr"/>
          <a:lstStyle/>
          <a:p>
            <a:pPr marL="0" indent="0" algn="l">
              <a:buNone/>
            </a:pPr>
            <a:r>
              <a:rPr lang="en-US" sz="800" dirty="0">
                <a:solidFill>
                  <a:srgbClr val="AAAAAA"/>
                </a:solidFill>
                <a:latin typeface="Arial" pitchFamily="34" charset="0"/>
                <a:ea typeface="Arial" pitchFamily="34" charset="-122"/>
                <a:cs typeface="Arial" pitchFamily="34" charset="-120"/>
              </a:rPr>
              <a:t>GradientBoostingRegressor selected. 5-fold CV. Test R² 0.890 · CV R² 0.928 ± 0.003. Model exported.</a:t>
            </a:r>
            <a:endParaRPr lang="en-US" sz="800" dirty="0"/>
          </a:p>
        </p:txBody>
      </p:sp>
      <p:sp>
        <p:nvSpPr>
          <p:cNvPr id="53" name="Shape 51"/>
          <p:cNvSpPr/>
          <p:nvPr/>
        </p:nvSpPr>
        <p:spPr>
          <a:xfrm>
            <a:off x="228600"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54" name="Text 52"/>
          <p:cNvSpPr/>
          <p:nvPr/>
        </p:nvSpPr>
        <p:spPr>
          <a:xfrm>
            <a:off x="228600" y="4773168"/>
            <a:ext cx="2011680" cy="146304"/>
          </a:xfrm>
          <a:prstGeom prst="rect">
            <a:avLst/>
          </a:prstGeom>
          <a:noFill/>
          <a:ln/>
        </p:spPr>
        <p:txBody>
          <a:bodyPr wrap="square" lIns="0" tIns="0" rIns="0" bIns="0" rtlCol="0" anchor="b"/>
          <a:lstStyle/>
          <a:p>
            <a:pPr marL="0" indent="0" algn="ctr">
              <a:buNone/>
            </a:pPr>
            <a:r>
              <a:rPr lang="en-US" sz="1100" b="1" dirty="0">
                <a:solidFill>
                  <a:srgbClr val="FF1A1A"/>
                </a:solidFill>
                <a:latin typeface="Arial Black" pitchFamily="34" charset="0"/>
                <a:ea typeface="Arial Black" pitchFamily="34" charset="-122"/>
                <a:cs typeface="Arial Black" pitchFamily="34" charset="-120"/>
              </a:rPr>
              <a:t>46,401</a:t>
            </a:r>
            <a:endParaRPr lang="en-US" sz="1100" dirty="0"/>
          </a:p>
        </p:txBody>
      </p:sp>
      <p:sp>
        <p:nvSpPr>
          <p:cNvPr id="55" name="Text 53"/>
          <p:cNvSpPr/>
          <p:nvPr/>
        </p:nvSpPr>
        <p:spPr>
          <a:xfrm>
            <a:off x="228600"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RAW LISTINGS</a:t>
            </a:r>
            <a:endParaRPr lang="en-US" sz="650" dirty="0"/>
          </a:p>
        </p:txBody>
      </p:sp>
      <p:sp>
        <p:nvSpPr>
          <p:cNvPr id="56" name="Shape 54"/>
          <p:cNvSpPr/>
          <p:nvPr/>
        </p:nvSpPr>
        <p:spPr>
          <a:xfrm>
            <a:off x="2404872"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57" name="Text 55"/>
          <p:cNvSpPr/>
          <p:nvPr/>
        </p:nvSpPr>
        <p:spPr>
          <a:xfrm>
            <a:off x="2404872" y="4773168"/>
            <a:ext cx="2011680" cy="146304"/>
          </a:xfrm>
          <a:prstGeom prst="rect">
            <a:avLst/>
          </a:prstGeom>
          <a:noFill/>
          <a:ln/>
        </p:spPr>
        <p:txBody>
          <a:bodyPr wrap="square" lIns="0" tIns="0" rIns="0" bIns="0" rtlCol="0" anchor="b"/>
          <a:lstStyle/>
          <a:p>
            <a:pPr marL="0" indent="0" algn="ctr">
              <a:buNone/>
            </a:pPr>
            <a:r>
              <a:rPr lang="en-US" sz="1100" b="1" dirty="0">
                <a:solidFill>
                  <a:srgbClr val="FF1A1A"/>
                </a:solidFill>
                <a:latin typeface="Arial Black" pitchFamily="34" charset="0"/>
                <a:ea typeface="Arial Black" pitchFamily="34" charset="-122"/>
                <a:cs typeface="Arial Black" pitchFamily="34" charset="-120"/>
              </a:rPr>
              <a:t>13,831</a:t>
            </a:r>
            <a:endParaRPr lang="en-US" sz="1100" dirty="0"/>
          </a:p>
        </p:txBody>
      </p:sp>
      <p:sp>
        <p:nvSpPr>
          <p:cNvPr id="58" name="Text 56"/>
          <p:cNvSpPr/>
          <p:nvPr/>
        </p:nvSpPr>
        <p:spPr>
          <a:xfrm>
            <a:off x="2404872"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CLEAN MERGED</a:t>
            </a:r>
            <a:endParaRPr lang="en-US" sz="650" dirty="0"/>
          </a:p>
        </p:txBody>
      </p:sp>
      <p:sp>
        <p:nvSpPr>
          <p:cNvPr id="59" name="Shape 57"/>
          <p:cNvSpPr/>
          <p:nvPr/>
        </p:nvSpPr>
        <p:spPr>
          <a:xfrm>
            <a:off x="4581144"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60" name="Text 58"/>
          <p:cNvSpPr/>
          <p:nvPr/>
        </p:nvSpPr>
        <p:spPr>
          <a:xfrm>
            <a:off x="4581144" y="4773168"/>
            <a:ext cx="2011680" cy="146304"/>
          </a:xfrm>
          <a:prstGeom prst="rect">
            <a:avLst/>
          </a:prstGeom>
          <a:noFill/>
          <a:ln/>
        </p:spPr>
        <p:txBody>
          <a:bodyPr wrap="square" lIns="0" tIns="0" rIns="0" bIns="0" rtlCol="0" anchor="b"/>
          <a:lstStyle/>
          <a:p>
            <a:pPr marL="0" indent="0" algn="ctr">
              <a:buNone/>
            </a:pPr>
            <a:r>
              <a:rPr lang="en-US" sz="1100" b="1" dirty="0">
                <a:solidFill>
                  <a:srgbClr val="FF1A1A"/>
                </a:solidFill>
                <a:latin typeface="Arial Black" pitchFamily="34" charset="0"/>
                <a:ea typeface="Arial Black" pitchFamily="34" charset="-122"/>
                <a:cs typeface="Arial Black" pitchFamily="34" charset="-120"/>
              </a:rPr>
              <a:t>13,756</a:t>
            </a:r>
            <a:endParaRPr lang="en-US" sz="1100" dirty="0"/>
          </a:p>
        </p:txBody>
      </p:sp>
      <p:sp>
        <p:nvSpPr>
          <p:cNvPr id="61" name="Text 59"/>
          <p:cNvSpPr/>
          <p:nvPr/>
        </p:nvSpPr>
        <p:spPr>
          <a:xfrm>
            <a:off x="4581144"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GEO MATCHED</a:t>
            </a:r>
            <a:endParaRPr lang="en-US" sz="650" dirty="0"/>
          </a:p>
        </p:txBody>
      </p:sp>
      <p:sp>
        <p:nvSpPr>
          <p:cNvPr id="62" name="Shape 60"/>
          <p:cNvSpPr/>
          <p:nvPr/>
        </p:nvSpPr>
        <p:spPr>
          <a:xfrm>
            <a:off x="6757416"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63" name="Text 61"/>
          <p:cNvSpPr/>
          <p:nvPr/>
        </p:nvSpPr>
        <p:spPr>
          <a:xfrm>
            <a:off x="6757416" y="4773168"/>
            <a:ext cx="2011680" cy="146304"/>
          </a:xfrm>
          <a:prstGeom prst="rect">
            <a:avLst/>
          </a:prstGeom>
          <a:noFill/>
          <a:ln/>
        </p:spPr>
        <p:txBody>
          <a:bodyPr wrap="square" lIns="0" tIns="0" rIns="0" bIns="0" rtlCol="0" anchor="b"/>
          <a:lstStyle/>
          <a:p>
            <a:pPr marL="0" indent="0" algn="ctr">
              <a:buNone/>
            </a:pPr>
            <a:r>
              <a:rPr lang="en-US" sz="1100" b="1" dirty="0">
                <a:solidFill>
                  <a:srgbClr val="FF1A1A"/>
                </a:solidFill>
                <a:latin typeface="Arial Black" pitchFamily="34" charset="0"/>
                <a:ea typeface="Arial Black" pitchFamily="34" charset="-122"/>
                <a:cs typeface="Arial Black" pitchFamily="34" charset="-120"/>
              </a:rPr>
              <a:t>13,651</a:t>
            </a:r>
            <a:endParaRPr lang="en-US" sz="1100" dirty="0"/>
          </a:p>
        </p:txBody>
      </p:sp>
      <p:sp>
        <p:nvSpPr>
          <p:cNvPr id="64" name="Text 62"/>
          <p:cNvSpPr/>
          <p:nvPr/>
        </p:nvSpPr>
        <p:spPr>
          <a:xfrm>
            <a:off x="6757416"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MODELING ROWS</a:t>
            </a:r>
            <a:endParaRPr lang="en-US" sz="650" dirty="0"/>
          </a:p>
        </p:txBody>
      </p:sp>
      <p:sp>
        <p:nvSpPr>
          <p:cNvPr id="65" name="Shape 63"/>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4" name="Text 2"/>
          <p:cNvSpPr/>
          <p:nvPr/>
        </p:nvSpPr>
        <p:spPr>
          <a:xfrm>
            <a:off x="228600" y="73152"/>
            <a:ext cx="45720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04  /  FEATURE ENGINEERING</a:t>
            </a:r>
            <a:endParaRPr lang="en-US" sz="700" dirty="0"/>
          </a:p>
        </p:txBody>
      </p:sp>
      <p:sp>
        <p:nvSpPr>
          <p:cNvPr id="5" name="Text 3"/>
          <p:cNvSpPr/>
          <p:nvPr/>
        </p:nvSpPr>
        <p:spPr>
          <a:xfrm>
            <a:off x="228600" y="292608"/>
            <a:ext cx="8686800" cy="475488"/>
          </a:xfrm>
          <a:prstGeom prst="rect">
            <a:avLst/>
          </a:prstGeom>
          <a:noFill/>
          <a:ln/>
        </p:spPr>
        <p:txBody>
          <a:bodyPr wrap="square" lIns="0" tIns="0" rIns="0" bIns="0" rtlCol="0" anchor="ctr"/>
          <a:lstStyle/>
          <a:p>
            <a:pPr marL="0" indent="0" algn="l">
              <a:buNone/>
            </a:pPr>
            <a:r>
              <a:rPr lang="en-US" sz="3000" b="1" kern="0" spc="300" dirty="0">
                <a:solidFill>
                  <a:srgbClr val="FFFFFF"/>
                </a:solidFill>
                <a:latin typeface="Arial Black" pitchFamily="34" charset="0"/>
                <a:ea typeface="Arial Black" pitchFamily="34" charset="-122"/>
                <a:cs typeface="Arial Black" pitchFamily="34" charset="-120"/>
              </a:rPr>
              <a:t>10 FEATURES. 3 GROUPS.</a:t>
            </a:r>
            <a:endParaRPr lang="en-US" sz="3000" dirty="0"/>
          </a:p>
        </p:txBody>
      </p:sp>
      <p:sp>
        <p:nvSpPr>
          <p:cNvPr id="6" name="Text 4"/>
          <p:cNvSpPr/>
          <p:nvPr/>
        </p:nvSpPr>
        <p:spPr>
          <a:xfrm>
            <a:off x="228600" y="786384"/>
            <a:ext cx="8686800" cy="219456"/>
          </a:xfrm>
          <a:prstGeom prst="rect">
            <a:avLst/>
          </a:prstGeom>
          <a:noFill/>
          <a:ln/>
        </p:spPr>
        <p:txBody>
          <a:bodyPr wrap="square" lIns="0" tIns="0" rIns="0" bIns="0" rtlCol="0" anchor="ctr"/>
          <a:lstStyle/>
          <a:p>
            <a:pPr marL="0" indent="0" algn="l">
              <a:buNone/>
            </a:pPr>
            <a:r>
              <a:rPr lang="en-US" sz="950" dirty="0">
                <a:solidFill>
                  <a:srgbClr val="AAAAAA"/>
                </a:solidFill>
                <a:latin typeface="Arial" pitchFamily="34" charset="0"/>
                <a:ea typeface="Arial" pitchFamily="34" charset="-122"/>
                <a:cs typeface="Arial" pitchFamily="34" charset="-120"/>
              </a:rPr>
              <a:t>Location encoded as signal, not noise. Geography is the strongest predictor in the model.</a:t>
            </a:r>
            <a:endParaRPr lang="en-US" sz="950" dirty="0"/>
          </a:p>
        </p:txBody>
      </p:sp>
      <p:sp>
        <p:nvSpPr>
          <p:cNvPr id="7" name="Shape 5"/>
          <p:cNvSpPr/>
          <p:nvPr/>
        </p:nvSpPr>
        <p:spPr>
          <a:xfrm>
            <a:off x="228600" y="1115568"/>
            <a:ext cx="2651760" cy="135331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8" name="Shape 6"/>
          <p:cNvSpPr/>
          <p:nvPr/>
        </p:nvSpPr>
        <p:spPr>
          <a:xfrm>
            <a:off x="228600" y="1115568"/>
            <a:ext cx="2651760" cy="36576"/>
          </a:xfrm>
          <a:prstGeom prst="rect">
            <a:avLst/>
          </a:prstGeom>
          <a:solidFill>
            <a:srgbClr val="555555"/>
          </a:solidFill>
          <a:ln w="12700">
            <a:solidFill>
              <a:srgbClr val="555555"/>
            </a:solidFill>
            <a:prstDash val="solid"/>
          </a:ln>
        </p:spPr>
        <p:txBody>
          <a:bodyPr/>
          <a:lstStyle/>
          <a:p>
            <a:endParaRPr lang="fr-FR"/>
          </a:p>
        </p:txBody>
      </p:sp>
      <p:sp>
        <p:nvSpPr>
          <p:cNvPr id="9" name="Text 7"/>
          <p:cNvSpPr/>
          <p:nvPr/>
        </p:nvSpPr>
        <p:spPr>
          <a:xfrm>
            <a:off x="338328" y="1207008"/>
            <a:ext cx="2468880" cy="237744"/>
          </a:xfrm>
          <a:prstGeom prst="rect">
            <a:avLst/>
          </a:prstGeom>
          <a:noFill/>
          <a:ln/>
        </p:spPr>
        <p:txBody>
          <a:bodyPr wrap="square" lIns="0" tIns="0" rIns="0" bIns="0" rtlCol="0" anchor="ctr"/>
          <a:lstStyle/>
          <a:p>
            <a:pPr marL="0" indent="0" algn="l">
              <a:buNone/>
            </a:pPr>
            <a:r>
              <a:rPr lang="en-US" sz="950" b="1" dirty="0">
                <a:solidFill>
                  <a:srgbClr val="FFFFFF"/>
                </a:solidFill>
                <a:latin typeface="Arial Black" pitchFamily="34" charset="0"/>
                <a:ea typeface="Arial Black" pitchFamily="34" charset="-122"/>
                <a:cs typeface="Arial Black" pitchFamily="34" charset="-120"/>
              </a:rPr>
              <a:t>NUMERIC BASE</a:t>
            </a:r>
            <a:endParaRPr lang="en-US" sz="950" dirty="0"/>
          </a:p>
        </p:txBody>
      </p:sp>
      <p:sp>
        <p:nvSpPr>
          <p:cNvPr id="10" name="Shape 8"/>
          <p:cNvSpPr/>
          <p:nvPr/>
        </p:nvSpPr>
        <p:spPr>
          <a:xfrm>
            <a:off x="338328" y="1536192"/>
            <a:ext cx="2432304" cy="347472"/>
          </a:xfrm>
          <a:prstGeom prst="rect">
            <a:avLst/>
          </a:prstGeom>
          <a:solidFill>
            <a:srgbClr val="1A1A1A"/>
          </a:solidFill>
          <a:ln w="12700">
            <a:solidFill>
              <a:srgbClr val="2A2A2A"/>
            </a:solidFill>
            <a:prstDash val="solid"/>
          </a:ln>
        </p:spPr>
        <p:txBody>
          <a:bodyPr/>
          <a:lstStyle/>
          <a:p>
            <a:endParaRPr lang="fr-FR"/>
          </a:p>
        </p:txBody>
      </p:sp>
      <p:sp>
        <p:nvSpPr>
          <p:cNvPr id="11" name="Text 9"/>
          <p:cNvSpPr/>
          <p:nvPr/>
        </p:nvSpPr>
        <p:spPr>
          <a:xfrm>
            <a:off x="411480" y="1563624"/>
            <a:ext cx="2286000" cy="164592"/>
          </a:xfrm>
          <a:prstGeom prst="rect">
            <a:avLst/>
          </a:prstGeom>
          <a:noFill/>
          <a:ln/>
        </p:spPr>
        <p:txBody>
          <a:bodyPr wrap="square" lIns="0" tIns="0" rIns="0" bIns="0" rtlCol="0" anchor="ctr"/>
          <a:lstStyle/>
          <a:p>
            <a:pPr marL="0" indent="0" algn="l">
              <a:buNone/>
            </a:pPr>
            <a:r>
              <a:rPr lang="en-US" sz="900" b="1" dirty="0">
                <a:solidFill>
                  <a:srgbClr val="AAAAAA"/>
                </a:solidFill>
                <a:latin typeface="Consolas" pitchFamily="34" charset="0"/>
                <a:ea typeface="Consolas" pitchFamily="34" charset="-122"/>
                <a:cs typeface="Consolas" pitchFamily="34" charset="-120"/>
              </a:rPr>
              <a:t>surface_m2</a:t>
            </a:r>
            <a:endParaRPr lang="en-US" sz="900" dirty="0"/>
          </a:p>
        </p:txBody>
      </p:sp>
      <p:sp>
        <p:nvSpPr>
          <p:cNvPr id="12" name="Text 10"/>
          <p:cNvSpPr/>
          <p:nvPr/>
        </p:nvSpPr>
        <p:spPr>
          <a:xfrm>
            <a:off x="411480" y="1719072"/>
            <a:ext cx="2286000" cy="128016"/>
          </a:xfrm>
          <a:prstGeom prst="rect">
            <a:avLst/>
          </a:prstGeom>
          <a:noFill/>
          <a:ln/>
        </p:spPr>
        <p:txBody>
          <a:bodyPr wrap="square" lIns="0" tIns="0" rIns="0" bIns="0" rtlCol="0" anchor="ctr"/>
          <a:lstStyle/>
          <a:p>
            <a:pPr marL="0" indent="0" algn="l">
              <a:buNone/>
            </a:pPr>
            <a:r>
              <a:rPr lang="en-US" sz="750" dirty="0">
                <a:solidFill>
                  <a:srgbClr val="555555"/>
                </a:solidFill>
                <a:latin typeface="Arial" pitchFamily="34" charset="0"/>
                <a:ea typeface="Arial" pitchFamily="34" charset="-122"/>
                <a:cs typeface="Arial" pitchFamily="34" charset="-120"/>
              </a:rPr>
              <a:t>Property surface area in m²</a:t>
            </a:r>
            <a:endParaRPr lang="en-US" sz="750" dirty="0"/>
          </a:p>
        </p:txBody>
      </p:sp>
      <p:sp>
        <p:nvSpPr>
          <p:cNvPr id="13" name="Shape 11"/>
          <p:cNvSpPr/>
          <p:nvPr/>
        </p:nvSpPr>
        <p:spPr>
          <a:xfrm>
            <a:off x="338328" y="1975104"/>
            <a:ext cx="2432304" cy="347472"/>
          </a:xfrm>
          <a:prstGeom prst="rect">
            <a:avLst/>
          </a:prstGeom>
          <a:solidFill>
            <a:srgbClr val="1A1A1A"/>
          </a:solidFill>
          <a:ln w="12700">
            <a:solidFill>
              <a:srgbClr val="2A2A2A"/>
            </a:solidFill>
            <a:prstDash val="solid"/>
          </a:ln>
        </p:spPr>
        <p:txBody>
          <a:bodyPr/>
          <a:lstStyle/>
          <a:p>
            <a:endParaRPr lang="fr-FR"/>
          </a:p>
        </p:txBody>
      </p:sp>
      <p:sp>
        <p:nvSpPr>
          <p:cNvPr id="14" name="Text 12"/>
          <p:cNvSpPr/>
          <p:nvPr/>
        </p:nvSpPr>
        <p:spPr>
          <a:xfrm>
            <a:off x="411480" y="2002536"/>
            <a:ext cx="2286000" cy="164592"/>
          </a:xfrm>
          <a:prstGeom prst="rect">
            <a:avLst/>
          </a:prstGeom>
          <a:noFill/>
          <a:ln/>
        </p:spPr>
        <p:txBody>
          <a:bodyPr wrap="square" lIns="0" tIns="0" rIns="0" bIns="0" rtlCol="0" anchor="ctr"/>
          <a:lstStyle/>
          <a:p>
            <a:pPr marL="0" indent="0" algn="l">
              <a:buNone/>
            </a:pPr>
            <a:r>
              <a:rPr lang="en-US" sz="900" b="1" dirty="0">
                <a:solidFill>
                  <a:srgbClr val="AAAAAA"/>
                </a:solidFill>
                <a:latin typeface="Consolas" pitchFamily="34" charset="0"/>
                <a:ea typeface="Consolas" pitchFamily="34" charset="-122"/>
                <a:cs typeface="Consolas" pitchFamily="34" charset="-120"/>
              </a:rPr>
              <a:t>rooms</a:t>
            </a:r>
            <a:endParaRPr lang="en-US" sz="900" dirty="0"/>
          </a:p>
        </p:txBody>
      </p:sp>
      <p:sp>
        <p:nvSpPr>
          <p:cNvPr id="15" name="Text 13"/>
          <p:cNvSpPr/>
          <p:nvPr/>
        </p:nvSpPr>
        <p:spPr>
          <a:xfrm>
            <a:off x="411480" y="2157984"/>
            <a:ext cx="2286000" cy="128016"/>
          </a:xfrm>
          <a:prstGeom prst="rect">
            <a:avLst/>
          </a:prstGeom>
          <a:noFill/>
          <a:ln/>
        </p:spPr>
        <p:txBody>
          <a:bodyPr wrap="square" lIns="0" tIns="0" rIns="0" bIns="0" rtlCol="0" anchor="ctr"/>
          <a:lstStyle/>
          <a:p>
            <a:pPr marL="0" indent="0" algn="l">
              <a:buNone/>
            </a:pPr>
            <a:r>
              <a:rPr lang="en-US" sz="750" dirty="0">
                <a:solidFill>
                  <a:srgbClr val="555555"/>
                </a:solidFill>
                <a:latin typeface="Arial" pitchFamily="34" charset="0"/>
                <a:ea typeface="Arial" pitchFamily="34" charset="-122"/>
                <a:cs typeface="Arial" pitchFamily="34" charset="-120"/>
              </a:rPr>
              <a:t>Number of rooms</a:t>
            </a:r>
            <a:endParaRPr lang="en-US" sz="750" dirty="0"/>
          </a:p>
        </p:txBody>
      </p:sp>
      <p:sp>
        <p:nvSpPr>
          <p:cNvPr id="16" name="Shape 14"/>
          <p:cNvSpPr/>
          <p:nvPr/>
        </p:nvSpPr>
        <p:spPr>
          <a:xfrm>
            <a:off x="228600" y="2542032"/>
            <a:ext cx="2651760" cy="217627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7" name="Shape 15"/>
          <p:cNvSpPr/>
          <p:nvPr/>
        </p:nvSpPr>
        <p:spPr>
          <a:xfrm>
            <a:off x="228600" y="2542032"/>
            <a:ext cx="2651760" cy="36576"/>
          </a:xfrm>
          <a:prstGeom prst="rect">
            <a:avLst/>
          </a:prstGeom>
          <a:solidFill>
            <a:srgbClr val="7A0000"/>
          </a:solidFill>
          <a:ln w="12700">
            <a:solidFill>
              <a:srgbClr val="7A0000"/>
            </a:solidFill>
            <a:prstDash val="solid"/>
          </a:ln>
        </p:spPr>
        <p:txBody>
          <a:bodyPr/>
          <a:lstStyle/>
          <a:p>
            <a:endParaRPr lang="fr-FR"/>
          </a:p>
        </p:txBody>
      </p:sp>
      <p:sp>
        <p:nvSpPr>
          <p:cNvPr id="18" name="Text 16"/>
          <p:cNvSpPr/>
          <p:nvPr/>
        </p:nvSpPr>
        <p:spPr>
          <a:xfrm>
            <a:off x="338328" y="2633472"/>
            <a:ext cx="2468880" cy="237744"/>
          </a:xfrm>
          <a:prstGeom prst="rect">
            <a:avLst/>
          </a:prstGeom>
          <a:noFill/>
          <a:ln/>
        </p:spPr>
        <p:txBody>
          <a:bodyPr wrap="square" lIns="0" tIns="0" rIns="0" bIns="0" rtlCol="0" anchor="ctr"/>
          <a:lstStyle/>
          <a:p>
            <a:pPr marL="0" indent="0" algn="l">
              <a:buNone/>
            </a:pPr>
            <a:r>
              <a:rPr lang="en-US" sz="950" b="1" dirty="0">
                <a:solidFill>
                  <a:srgbClr val="FFFFFF"/>
                </a:solidFill>
                <a:latin typeface="Arial Black" pitchFamily="34" charset="0"/>
                <a:ea typeface="Arial Black" pitchFamily="34" charset="-122"/>
                <a:cs typeface="Arial Black" pitchFamily="34" charset="-120"/>
              </a:rPr>
              <a:t>ENGINEERED NUMERIC</a:t>
            </a:r>
            <a:endParaRPr lang="en-US" sz="950" dirty="0"/>
          </a:p>
        </p:txBody>
      </p:sp>
      <p:sp>
        <p:nvSpPr>
          <p:cNvPr id="19" name="Shape 17"/>
          <p:cNvSpPr/>
          <p:nvPr/>
        </p:nvSpPr>
        <p:spPr>
          <a:xfrm>
            <a:off x="338328" y="2907792"/>
            <a:ext cx="2432304" cy="292608"/>
          </a:xfrm>
          <a:prstGeom prst="rect">
            <a:avLst/>
          </a:prstGeom>
          <a:solidFill>
            <a:srgbClr val="1A1A1A"/>
          </a:solidFill>
          <a:ln w="5080">
            <a:solidFill>
              <a:srgbClr val="7A0000"/>
            </a:solidFill>
            <a:prstDash val="solid"/>
          </a:ln>
        </p:spPr>
        <p:txBody>
          <a:bodyPr/>
          <a:lstStyle/>
          <a:p>
            <a:endParaRPr lang="fr-FR"/>
          </a:p>
        </p:txBody>
      </p:sp>
      <p:sp>
        <p:nvSpPr>
          <p:cNvPr id="20" name="Text 18"/>
          <p:cNvSpPr/>
          <p:nvPr/>
        </p:nvSpPr>
        <p:spPr>
          <a:xfrm>
            <a:off x="411480" y="2926080"/>
            <a:ext cx="2286000" cy="137160"/>
          </a:xfrm>
          <a:prstGeom prst="rect">
            <a:avLst/>
          </a:prstGeom>
          <a:noFill/>
          <a:ln/>
        </p:spPr>
        <p:txBody>
          <a:bodyPr wrap="square" lIns="0" tIns="0" rIns="0" bIns="0" rtlCol="0" anchor="ctr"/>
          <a:lstStyle/>
          <a:p>
            <a:pPr marL="0" indent="0" algn="l">
              <a:buNone/>
            </a:pPr>
            <a:r>
              <a:rPr lang="en-US" sz="750" b="1" dirty="0">
                <a:solidFill>
                  <a:srgbClr val="FF1A1A"/>
                </a:solidFill>
                <a:latin typeface="Consolas" pitchFamily="34" charset="0"/>
                <a:ea typeface="Consolas" pitchFamily="34" charset="-122"/>
                <a:cs typeface="Consolas" pitchFamily="34" charset="-120"/>
              </a:rPr>
              <a:t>lon</a:t>
            </a:r>
            <a:endParaRPr lang="en-US" sz="750" dirty="0"/>
          </a:p>
        </p:txBody>
      </p:sp>
      <p:sp>
        <p:nvSpPr>
          <p:cNvPr id="21" name="Text 19"/>
          <p:cNvSpPr/>
          <p:nvPr/>
        </p:nvSpPr>
        <p:spPr>
          <a:xfrm>
            <a:off x="411480" y="3054096"/>
            <a:ext cx="2286000" cy="118872"/>
          </a:xfrm>
          <a:prstGeom prst="rect">
            <a:avLst/>
          </a:prstGeom>
          <a:noFill/>
          <a:ln/>
        </p:spPr>
        <p:txBody>
          <a:bodyPr wrap="square" lIns="0" tIns="0" rIns="0" bIns="0" rtlCol="0" anchor="ctr"/>
          <a:lstStyle/>
          <a:p>
            <a:pPr marL="0" indent="0" algn="l">
              <a:buNone/>
            </a:pPr>
            <a:r>
              <a:rPr lang="en-US" sz="650" dirty="0">
                <a:solidFill>
                  <a:srgbClr val="555555"/>
                </a:solidFill>
                <a:latin typeface="Arial" pitchFamily="34" charset="0"/>
                <a:ea typeface="Arial" pitchFamily="34" charset="-122"/>
                <a:cs typeface="Arial" pitchFamily="34" charset="-120"/>
              </a:rPr>
              <a:t>Delegation centroid longitude</a:t>
            </a:r>
            <a:endParaRPr lang="en-US" sz="650" dirty="0"/>
          </a:p>
        </p:txBody>
      </p:sp>
      <p:sp>
        <p:nvSpPr>
          <p:cNvPr id="22" name="Shape 20"/>
          <p:cNvSpPr/>
          <p:nvPr/>
        </p:nvSpPr>
        <p:spPr>
          <a:xfrm>
            <a:off x="338328" y="3264408"/>
            <a:ext cx="2432304" cy="292608"/>
          </a:xfrm>
          <a:prstGeom prst="rect">
            <a:avLst/>
          </a:prstGeom>
          <a:solidFill>
            <a:srgbClr val="1A1A1A"/>
          </a:solidFill>
          <a:ln w="5080">
            <a:solidFill>
              <a:srgbClr val="7A0000"/>
            </a:solidFill>
            <a:prstDash val="solid"/>
          </a:ln>
        </p:spPr>
        <p:txBody>
          <a:bodyPr/>
          <a:lstStyle/>
          <a:p>
            <a:endParaRPr lang="fr-FR"/>
          </a:p>
        </p:txBody>
      </p:sp>
      <p:sp>
        <p:nvSpPr>
          <p:cNvPr id="23" name="Text 21"/>
          <p:cNvSpPr/>
          <p:nvPr/>
        </p:nvSpPr>
        <p:spPr>
          <a:xfrm>
            <a:off x="411480" y="3282696"/>
            <a:ext cx="2286000" cy="137160"/>
          </a:xfrm>
          <a:prstGeom prst="rect">
            <a:avLst/>
          </a:prstGeom>
          <a:noFill/>
          <a:ln/>
        </p:spPr>
        <p:txBody>
          <a:bodyPr wrap="square" lIns="0" tIns="0" rIns="0" bIns="0" rtlCol="0" anchor="ctr"/>
          <a:lstStyle/>
          <a:p>
            <a:pPr marL="0" indent="0" algn="l">
              <a:buNone/>
            </a:pPr>
            <a:r>
              <a:rPr lang="en-US" sz="750" b="1" dirty="0">
                <a:solidFill>
                  <a:srgbClr val="FF1A1A"/>
                </a:solidFill>
                <a:latin typeface="Consolas" pitchFamily="34" charset="0"/>
                <a:ea typeface="Consolas" pitchFamily="34" charset="-122"/>
                <a:cs typeface="Consolas" pitchFamily="34" charset="-120"/>
              </a:rPr>
              <a:t>lat</a:t>
            </a:r>
            <a:endParaRPr lang="en-US" sz="750" dirty="0"/>
          </a:p>
        </p:txBody>
      </p:sp>
      <p:sp>
        <p:nvSpPr>
          <p:cNvPr id="24" name="Text 22"/>
          <p:cNvSpPr/>
          <p:nvPr/>
        </p:nvSpPr>
        <p:spPr>
          <a:xfrm>
            <a:off x="411480" y="3410712"/>
            <a:ext cx="2286000" cy="118872"/>
          </a:xfrm>
          <a:prstGeom prst="rect">
            <a:avLst/>
          </a:prstGeom>
          <a:noFill/>
          <a:ln/>
        </p:spPr>
        <p:txBody>
          <a:bodyPr wrap="square" lIns="0" tIns="0" rIns="0" bIns="0" rtlCol="0" anchor="ctr"/>
          <a:lstStyle/>
          <a:p>
            <a:pPr marL="0" indent="0" algn="l">
              <a:buNone/>
            </a:pPr>
            <a:r>
              <a:rPr lang="en-US" sz="650" dirty="0">
                <a:solidFill>
                  <a:srgbClr val="555555"/>
                </a:solidFill>
                <a:latin typeface="Arial" pitchFamily="34" charset="0"/>
                <a:ea typeface="Arial" pitchFamily="34" charset="-122"/>
                <a:cs typeface="Arial" pitchFamily="34" charset="-120"/>
              </a:rPr>
              <a:t>Delegation centroid latitude</a:t>
            </a:r>
            <a:endParaRPr lang="en-US" sz="650" dirty="0"/>
          </a:p>
        </p:txBody>
      </p:sp>
      <p:sp>
        <p:nvSpPr>
          <p:cNvPr id="25" name="Shape 23"/>
          <p:cNvSpPr/>
          <p:nvPr/>
        </p:nvSpPr>
        <p:spPr>
          <a:xfrm>
            <a:off x="338328" y="3621024"/>
            <a:ext cx="2432304" cy="292608"/>
          </a:xfrm>
          <a:prstGeom prst="rect">
            <a:avLst/>
          </a:prstGeom>
          <a:solidFill>
            <a:srgbClr val="1A1A1A"/>
          </a:solidFill>
          <a:ln w="5080">
            <a:solidFill>
              <a:srgbClr val="7A0000"/>
            </a:solidFill>
            <a:prstDash val="solid"/>
          </a:ln>
        </p:spPr>
        <p:txBody>
          <a:bodyPr/>
          <a:lstStyle/>
          <a:p>
            <a:endParaRPr lang="fr-FR"/>
          </a:p>
        </p:txBody>
      </p:sp>
      <p:sp>
        <p:nvSpPr>
          <p:cNvPr id="26" name="Text 24"/>
          <p:cNvSpPr/>
          <p:nvPr/>
        </p:nvSpPr>
        <p:spPr>
          <a:xfrm>
            <a:off x="411480" y="3639312"/>
            <a:ext cx="2286000" cy="137160"/>
          </a:xfrm>
          <a:prstGeom prst="rect">
            <a:avLst/>
          </a:prstGeom>
          <a:noFill/>
          <a:ln/>
        </p:spPr>
        <p:txBody>
          <a:bodyPr wrap="square" lIns="0" tIns="0" rIns="0" bIns="0" rtlCol="0" anchor="ctr"/>
          <a:lstStyle/>
          <a:p>
            <a:pPr marL="0" indent="0" algn="l">
              <a:buNone/>
            </a:pPr>
            <a:r>
              <a:rPr lang="en-US" sz="750" b="1" dirty="0">
                <a:solidFill>
                  <a:srgbClr val="FF1A1A"/>
                </a:solidFill>
                <a:latin typeface="Consolas" pitchFamily="34" charset="0"/>
                <a:ea typeface="Consolas" pitchFamily="34" charset="-122"/>
                <a:cs typeface="Consolas" pitchFamily="34" charset="-120"/>
              </a:rPr>
              <a:t>geo_delegation_target_enc</a:t>
            </a:r>
            <a:endParaRPr lang="en-US" sz="750" dirty="0"/>
          </a:p>
        </p:txBody>
      </p:sp>
      <p:sp>
        <p:nvSpPr>
          <p:cNvPr id="27" name="Text 25"/>
          <p:cNvSpPr/>
          <p:nvPr/>
        </p:nvSpPr>
        <p:spPr>
          <a:xfrm>
            <a:off x="411480" y="3767328"/>
            <a:ext cx="2286000" cy="118872"/>
          </a:xfrm>
          <a:prstGeom prst="rect">
            <a:avLst/>
          </a:prstGeom>
          <a:noFill/>
          <a:ln/>
        </p:spPr>
        <p:txBody>
          <a:bodyPr wrap="square" lIns="0" tIns="0" rIns="0" bIns="0" rtlCol="0" anchor="ctr"/>
          <a:lstStyle/>
          <a:p>
            <a:pPr marL="0" indent="0" algn="l">
              <a:buNone/>
            </a:pPr>
            <a:r>
              <a:rPr lang="en-US" sz="650" dirty="0">
                <a:solidFill>
                  <a:srgbClr val="555555"/>
                </a:solidFill>
                <a:latin typeface="Arial" pitchFamily="34" charset="0"/>
                <a:ea typeface="Arial" pitchFamily="34" charset="-122"/>
                <a:cs typeface="Arial" pitchFamily="34" charset="-120"/>
              </a:rPr>
              <a:t>Mean training price per delegation</a:t>
            </a:r>
            <a:endParaRPr lang="en-US" sz="650" dirty="0"/>
          </a:p>
        </p:txBody>
      </p:sp>
      <p:sp>
        <p:nvSpPr>
          <p:cNvPr id="28" name="Shape 26"/>
          <p:cNvSpPr/>
          <p:nvPr/>
        </p:nvSpPr>
        <p:spPr>
          <a:xfrm>
            <a:off x="338328" y="3977640"/>
            <a:ext cx="2432304" cy="292608"/>
          </a:xfrm>
          <a:prstGeom prst="rect">
            <a:avLst/>
          </a:prstGeom>
          <a:solidFill>
            <a:srgbClr val="1A1A1A"/>
          </a:solidFill>
          <a:ln w="5080">
            <a:solidFill>
              <a:srgbClr val="7A0000"/>
            </a:solidFill>
            <a:prstDash val="solid"/>
          </a:ln>
        </p:spPr>
        <p:txBody>
          <a:bodyPr/>
          <a:lstStyle/>
          <a:p>
            <a:endParaRPr lang="fr-FR"/>
          </a:p>
        </p:txBody>
      </p:sp>
      <p:sp>
        <p:nvSpPr>
          <p:cNvPr id="29" name="Text 27"/>
          <p:cNvSpPr/>
          <p:nvPr/>
        </p:nvSpPr>
        <p:spPr>
          <a:xfrm>
            <a:off x="411480" y="3995928"/>
            <a:ext cx="2286000" cy="137160"/>
          </a:xfrm>
          <a:prstGeom prst="rect">
            <a:avLst/>
          </a:prstGeom>
          <a:noFill/>
          <a:ln/>
        </p:spPr>
        <p:txBody>
          <a:bodyPr wrap="square" lIns="0" tIns="0" rIns="0" bIns="0" rtlCol="0" anchor="ctr"/>
          <a:lstStyle/>
          <a:p>
            <a:pPr marL="0" indent="0" algn="l">
              <a:buNone/>
            </a:pPr>
            <a:r>
              <a:rPr lang="en-US" sz="750" b="1" dirty="0">
                <a:solidFill>
                  <a:srgbClr val="FF1A1A"/>
                </a:solidFill>
                <a:latin typeface="Consolas" pitchFamily="34" charset="0"/>
                <a:ea typeface="Consolas" pitchFamily="34" charset="-122"/>
                <a:cs typeface="Consolas" pitchFamily="34" charset="-120"/>
              </a:rPr>
              <a:t>geo_governorate_target_enc</a:t>
            </a:r>
            <a:endParaRPr lang="en-US" sz="750" dirty="0"/>
          </a:p>
        </p:txBody>
      </p:sp>
      <p:sp>
        <p:nvSpPr>
          <p:cNvPr id="30" name="Text 28"/>
          <p:cNvSpPr/>
          <p:nvPr/>
        </p:nvSpPr>
        <p:spPr>
          <a:xfrm>
            <a:off x="411480" y="4123944"/>
            <a:ext cx="2286000" cy="118872"/>
          </a:xfrm>
          <a:prstGeom prst="rect">
            <a:avLst/>
          </a:prstGeom>
          <a:noFill/>
          <a:ln/>
        </p:spPr>
        <p:txBody>
          <a:bodyPr wrap="square" lIns="0" tIns="0" rIns="0" bIns="0" rtlCol="0" anchor="ctr"/>
          <a:lstStyle/>
          <a:p>
            <a:pPr marL="0" indent="0" algn="l">
              <a:buNone/>
            </a:pPr>
            <a:r>
              <a:rPr lang="en-US" sz="650" dirty="0">
                <a:solidFill>
                  <a:srgbClr val="555555"/>
                </a:solidFill>
                <a:latin typeface="Arial" pitchFamily="34" charset="0"/>
                <a:ea typeface="Arial" pitchFamily="34" charset="-122"/>
                <a:cs typeface="Arial" pitchFamily="34" charset="-120"/>
              </a:rPr>
              <a:t>Mean training price per governorate</a:t>
            </a:r>
            <a:endParaRPr lang="en-US" sz="650" dirty="0"/>
          </a:p>
        </p:txBody>
      </p:sp>
      <p:sp>
        <p:nvSpPr>
          <p:cNvPr id="31" name="Shape 29"/>
          <p:cNvSpPr/>
          <p:nvPr/>
        </p:nvSpPr>
        <p:spPr>
          <a:xfrm>
            <a:off x="338328" y="4334256"/>
            <a:ext cx="2432304" cy="292608"/>
          </a:xfrm>
          <a:prstGeom prst="rect">
            <a:avLst/>
          </a:prstGeom>
          <a:solidFill>
            <a:srgbClr val="1A1A1A"/>
          </a:solidFill>
          <a:ln w="5080">
            <a:solidFill>
              <a:srgbClr val="7A0000"/>
            </a:solidFill>
            <a:prstDash val="solid"/>
          </a:ln>
        </p:spPr>
        <p:txBody>
          <a:bodyPr/>
          <a:lstStyle/>
          <a:p>
            <a:endParaRPr lang="fr-FR"/>
          </a:p>
        </p:txBody>
      </p:sp>
      <p:sp>
        <p:nvSpPr>
          <p:cNvPr id="32" name="Text 30"/>
          <p:cNvSpPr/>
          <p:nvPr/>
        </p:nvSpPr>
        <p:spPr>
          <a:xfrm>
            <a:off x="411480" y="4352544"/>
            <a:ext cx="2286000" cy="137160"/>
          </a:xfrm>
          <a:prstGeom prst="rect">
            <a:avLst/>
          </a:prstGeom>
          <a:noFill/>
          <a:ln/>
        </p:spPr>
        <p:txBody>
          <a:bodyPr wrap="square" lIns="0" tIns="0" rIns="0" bIns="0" rtlCol="0" anchor="ctr"/>
          <a:lstStyle/>
          <a:p>
            <a:pPr marL="0" indent="0" algn="l">
              <a:buNone/>
            </a:pPr>
            <a:r>
              <a:rPr lang="en-US" sz="750" b="1" dirty="0">
                <a:solidFill>
                  <a:srgbClr val="FF1A1A"/>
                </a:solidFill>
                <a:latin typeface="Consolas" pitchFamily="34" charset="0"/>
                <a:ea typeface="Consolas" pitchFamily="34" charset="-122"/>
                <a:cs typeface="Consolas" pitchFamily="34" charset="-120"/>
              </a:rPr>
              <a:t>price_vs_local_median</a:t>
            </a:r>
            <a:endParaRPr lang="en-US" sz="750" dirty="0"/>
          </a:p>
        </p:txBody>
      </p:sp>
      <p:sp>
        <p:nvSpPr>
          <p:cNvPr id="33" name="Text 31"/>
          <p:cNvSpPr/>
          <p:nvPr/>
        </p:nvSpPr>
        <p:spPr>
          <a:xfrm>
            <a:off x="411480" y="4480560"/>
            <a:ext cx="2286000" cy="118872"/>
          </a:xfrm>
          <a:prstGeom prst="rect">
            <a:avLst/>
          </a:prstGeom>
          <a:noFill/>
          <a:ln/>
        </p:spPr>
        <p:txBody>
          <a:bodyPr wrap="square" lIns="0" tIns="0" rIns="0" bIns="0" rtlCol="0" anchor="ctr"/>
          <a:lstStyle/>
          <a:p>
            <a:pPr marL="0" indent="0" algn="l">
              <a:buNone/>
            </a:pPr>
            <a:r>
              <a:rPr lang="en-US" sz="650" dirty="0">
                <a:solidFill>
                  <a:srgbClr val="555555"/>
                </a:solidFill>
                <a:latin typeface="Arial" pitchFamily="34" charset="0"/>
                <a:ea typeface="Arial" pitchFamily="34" charset="-122"/>
                <a:cs typeface="Arial" pitchFamily="34" charset="-120"/>
              </a:rPr>
              <a:t>Ratio vs local median price / m²</a:t>
            </a:r>
            <a:endParaRPr lang="en-US" sz="650" dirty="0"/>
          </a:p>
        </p:txBody>
      </p:sp>
      <p:sp>
        <p:nvSpPr>
          <p:cNvPr id="34" name="Shape 32"/>
          <p:cNvSpPr/>
          <p:nvPr/>
        </p:nvSpPr>
        <p:spPr>
          <a:xfrm>
            <a:off x="3108960" y="1115568"/>
            <a:ext cx="5806440" cy="3602736"/>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35" name="Shape 33"/>
          <p:cNvSpPr/>
          <p:nvPr/>
        </p:nvSpPr>
        <p:spPr>
          <a:xfrm>
            <a:off x="3108960" y="1115568"/>
            <a:ext cx="5806440" cy="36576"/>
          </a:xfrm>
          <a:prstGeom prst="rect">
            <a:avLst/>
          </a:prstGeom>
          <a:solidFill>
            <a:srgbClr val="CC0000"/>
          </a:solidFill>
          <a:ln w="12700">
            <a:solidFill>
              <a:srgbClr val="CC0000"/>
            </a:solidFill>
            <a:prstDash val="solid"/>
          </a:ln>
        </p:spPr>
        <p:txBody>
          <a:bodyPr/>
          <a:lstStyle/>
          <a:p>
            <a:endParaRPr lang="fr-FR"/>
          </a:p>
        </p:txBody>
      </p:sp>
      <p:sp>
        <p:nvSpPr>
          <p:cNvPr id="36" name="Text 34"/>
          <p:cNvSpPr/>
          <p:nvPr/>
        </p:nvSpPr>
        <p:spPr>
          <a:xfrm>
            <a:off x="3246120" y="1207008"/>
            <a:ext cx="5532120" cy="237744"/>
          </a:xfrm>
          <a:prstGeom prst="rect">
            <a:avLst/>
          </a:prstGeom>
          <a:noFill/>
          <a:ln/>
        </p:spPr>
        <p:txBody>
          <a:bodyPr wrap="square" lIns="0" tIns="0" rIns="0" bIns="0" rtlCol="0" anchor="ctr"/>
          <a:lstStyle/>
          <a:p>
            <a:pPr marL="0" indent="0" algn="l">
              <a:buNone/>
            </a:pPr>
            <a:r>
              <a:rPr lang="en-US" sz="950" b="1" dirty="0">
                <a:solidFill>
                  <a:srgbClr val="FFFFFF"/>
                </a:solidFill>
                <a:latin typeface="Arial Black" pitchFamily="34" charset="0"/>
                <a:ea typeface="Arial Black" pitchFamily="34" charset="-122"/>
                <a:cs typeface="Arial Black" pitchFamily="34" charset="-120"/>
              </a:rPr>
              <a:t>CATEGORICAL</a:t>
            </a:r>
            <a:endParaRPr lang="en-US" sz="950" dirty="0"/>
          </a:p>
        </p:txBody>
      </p:sp>
      <p:sp>
        <p:nvSpPr>
          <p:cNvPr id="37" name="Shape 35"/>
          <p:cNvSpPr/>
          <p:nvPr/>
        </p:nvSpPr>
        <p:spPr>
          <a:xfrm>
            <a:off x="3246120" y="1517904"/>
            <a:ext cx="5532120" cy="932688"/>
          </a:xfrm>
          <a:prstGeom prst="rect">
            <a:avLst/>
          </a:prstGeom>
          <a:solidFill>
            <a:srgbClr val="1A1A1A"/>
          </a:solidFill>
          <a:ln w="12700">
            <a:solidFill>
              <a:srgbClr val="2A2A2A"/>
            </a:solidFill>
            <a:prstDash val="solid"/>
          </a:ln>
        </p:spPr>
        <p:txBody>
          <a:bodyPr/>
          <a:lstStyle/>
          <a:p>
            <a:endParaRPr lang="fr-FR"/>
          </a:p>
        </p:txBody>
      </p:sp>
      <p:sp>
        <p:nvSpPr>
          <p:cNvPr id="38" name="Shape 36"/>
          <p:cNvSpPr/>
          <p:nvPr/>
        </p:nvSpPr>
        <p:spPr>
          <a:xfrm>
            <a:off x="3246120" y="1517904"/>
            <a:ext cx="45720" cy="987552"/>
          </a:xfrm>
          <a:prstGeom prst="rect">
            <a:avLst/>
          </a:prstGeom>
          <a:solidFill>
            <a:srgbClr val="CC0000"/>
          </a:solidFill>
          <a:ln w="12700">
            <a:solidFill>
              <a:srgbClr val="CC0000"/>
            </a:solidFill>
            <a:prstDash val="solid"/>
          </a:ln>
        </p:spPr>
        <p:txBody>
          <a:bodyPr/>
          <a:lstStyle/>
          <a:p>
            <a:endParaRPr lang="fr-FR"/>
          </a:p>
        </p:txBody>
      </p:sp>
      <p:sp>
        <p:nvSpPr>
          <p:cNvPr id="39" name="Text 37"/>
          <p:cNvSpPr/>
          <p:nvPr/>
        </p:nvSpPr>
        <p:spPr>
          <a:xfrm>
            <a:off x="3364992" y="1572768"/>
            <a:ext cx="5303520" cy="219456"/>
          </a:xfrm>
          <a:prstGeom prst="rect">
            <a:avLst/>
          </a:prstGeom>
          <a:noFill/>
          <a:ln/>
        </p:spPr>
        <p:txBody>
          <a:bodyPr wrap="square" lIns="0" tIns="0" rIns="0" bIns="0" rtlCol="0" anchor="ctr"/>
          <a:lstStyle/>
          <a:p>
            <a:pPr marL="0" indent="0" algn="l">
              <a:buNone/>
            </a:pPr>
            <a:r>
              <a:rPr lang="en-US" sz="1000" b="1" dirty="0">
                <a:solidFill>
                  <a:srgbClr val="FFFFFF"/>
                </a:solidFill>
                <a:latin typeface="Consolas" pitchFamily="34" charset="0"/>
                <a:ea typeface="Consolas" pitchFamily="34" charset="-122"/>
                <a:cs typeface="Consolas" pitchFamily="34" charset="-120"/>
              </a:rPr>
              <a:t>property_family</a:t>
            </a:r>
            <a:endParaRPr lang="en-US" sz="1000" dirty="0"/>
          </a:p>
        </p:txBody>
      </p:sp>
      <p:sp>
        <p:nvSpPr>
          <p:cNvPr id="40" name="Text 38"/>
          <p:cNvSpPr/>
          <p:nvPr/>
        </p:nvSpPr>
        <p:spPr>
          <a:xfrm>
            <a:off x="3364992" y="1810512"/>
            <a:ext cx="5303520" cy="182880"/>
          </a:xfrm>
          <a:prstGeom prst="rect">
            <a:avLst/>
          </a:prstGeom>
          <a:noFill/>
          <a:ln/>
        </p:spPr>
        <p:txBody>
          <a:bodyPr wrap="square" lIns="0" tIns="0" rIns="0" bIns="0" rtlCol="0" anchor="ctr"/>
          <a:lstStyle/>
          <a:p>
            <a:pPr marL="0" indent="0" algn="l">
              <a:buNone/>
            </a:pPr>
            <a:r>
              <a:rPr lang="en-US" sz="900" b="1" dirty="0">
                <a:solidFill>
                  <a:srgbClr val="FF1A1A"/>
                </a:solidFill>
                <a:latin typeface="Arial" pitchFamily="34" charset="0"/>
                <a:ea typeface="Arial" pitchFamily="34" charset="-122"/>
                <a:cs typeface="Arial" pitchFamily="34" charset="-120"/>
              </a:rPr>
              <a:t>apartment / house / land</a:t>
            </a:r>
            <a:endParaRPr lang="en-US" sz="900" dirty="0"/>
          </a:p>
        </p:txBody>
      </p:sp>
      <p:sp>
        <p:nvSpPr>
          <p:cNvPr id="41" name="Text 39"/>
          <p:cNvSpPr/>
          <p:nvPr/>
        </p:nvSpPr>
        <p:spPr>
          <a:xfrm>
            <a:off x="3364992" y="2011680"/>
            <a:ext cx="5303520" cy="40233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One-hot encoded. Defines price range tier.</a:t>
            </a:r>
            <a:endParaRPr lang="en-US" sz="850" dirty="0"/>
          </a:p>
        </p:txBody>
      </p:sp>
      <p:sp>
        <p:nvSpPr>
          <p:cNvPr id="42" name="Shape 40"/>
          <p:cNvSpPr/>
          <p:nvPr/>
        </p:nvSpPr>
        <p:spPr>
          <a:xfrm>
            <a:off x="3246120" y="2560320"/>
            <a:ext cx="5532120" cy="932688"/>
          </a:xfrm>
          <a:prstGeom prst="rect">
            <a:avLst/>
          </a:prstGeom>
          <a:solidFill>
            <a:srgbClr val="1A1A1A"/>
          </a:solidFill>
          <a:ln w="12700">
            <a:solidFill>
              <a:srgbClr val="2A2A2A"/>
            </a:solidFill>
            <a:prstDash val="solid"/>
          </a:ln>
        </p:spPr>
        <p:txBody>
          <a:bodyPr/>
          <a:lstStyle/>
          <a:p>
            <a:endParaRPr lang="fr-FR"/>
          </a:p>
        </p:txBody>
      </p:sp>
      <p:sp>
        <p:nvSpPr>
          <p:cNvPr id="43" name="Shape 41"/>
          <p:cNvSpPr/>
          <p:nvPr/>
        </p:nvSpPr>
        <p:spPr>
          <a:xfrm>
            <a:off x="3246120" y="2560320"/>
            <a:ext cx="45720" cy="987552"/>
          </a:xfrm>
          <a:prstGeom prst="rect">
            <a:avLst/>
          </a:prstGeom>
          <a:solidFill>
            <a:srgbClr val="CC0000"/>
          </a:solidFill>
          <a:ln w="12700">
            <a:solidFill>
              <a:srgbClr val="CC0000"/>
            </a:solidFill>
            <a:prstDash val="solid"/>
          </a:ln>
        </p:spPr>
        <p:txBody>
          <a:bodyPr/>
          <a:lstStyle/>
          <a:p>
            <a:endParaRPr lang="fr-FR"/>
          </a:p>
        </p:txBody>
      </p:sp>
      <p:sp>
        <p:nvSpPr>
          <p:cNvPr id="44" name="Text 42"/>
          <p:cNvSpPr/>
          <p:nvPr/>
        </p:nvSpPr>
        <p:spPr>
          <a:xfrm>
            <a:off x="3364992" y="2615184"/>
            <a:ext cx="5303520" cy="219456"/>
          </a:xfrm>
          <a:prstGeom prst="rect">
            <a:avLst/>
          </a:prstGeom>
          <a:noFill/>
          <a:ln/>
        </p:spPr>
        <p:txBody>
          <a:bodyPr wrap="square" lIns="0" tIns="0" rIns="0" bIns="0" rtlCol="0" anchor="ctr"/>
          <a:lstStyle/>
          <a:p>
            <a:pPr marL="0" indent="0" algn="l">
              <a:buNone/>
            </a:pPr>
            <a:r>
              <a:rPr lang="en-US" sz="1000" b="1" dirty="0">
                <a:solidFill>
                  <a:srgbClr val="FFFFFF"/>
                </a:solidFill>
                <a:latin typeface="Consolas" pitchFamily="34" charset="0"/>
                <a:ea typeface="Consolas" pitchFamily="34" charset="-122"/>
                <a:cs typeface="Consolas" pitchFamily="34" charset="-120"/>
              </a:rPr>
              <a:t>geo_governorate</a:t>
            </a:r>
            <a:endParaRPr lang="en-US" sz="1000" dirty="0"/>
          </a:p>
        </p:txBody>
      </p:sp>
      <p:sp>
        <p:nvSpPr>
          <p:cNvPr id="45" name="Text 43"/>
          <p:cNvSpPr/>
          <p:nvPr/>
        </p:nvSpPr>
        <p:spPr>
          <a:xfrm>
            <a:off x="3364992" y="2852928"/>
            <a:ext cx="5303520" cy="182880"/>
          </a:xfrm>
          <a:prstGeom prst="rect">
            <a:avLst/>
          </a:prstGeom>
          <a:noFill/>
          <a:ln/>
        </p:spPr>
        <p:txBody>
          <a:bodyPr wrap="square" lIns="0" tIns="0" rIns="0" bIns="0" rtlCol="0" anchor="ctr"/>
          <a:lstStyle/>
          <a:p>
            <a:pPr marL="0" indent="0" algn="l">
              <a:buNone/>
            </a:pPr>
            <a:r>
              <a:rPr lang="en-US" sz="900" b="1" dirty="0">
                <a:solidFill>
                  <a:srgbClr val="FF1A1A"/>
                </a:solidFill>
                <a:latin typeface="Arial" pitchFamily="34" charset="0"/>
                <a:ea typeface="Arial" pitchFamily="34" charset="-122"/>
                <a:cs typeface="Arial" pitchFamily="34" charset="-120"/>
              </a:rPr>
              <a:t>24 governorate categories</a:t>
            </a:r>
            <a:endParaRPr lang="en-US" sz="900" dirty="0"/>
          </a:p>
        </p:txBody>
      </p:sp>
      <p:sp>
        <p:nvSpPr>
          <p:cNvPr id="46" name="Text 44"/>
          <p:cNvSpPr/>
          <p:nvPr/>
        </p:nvSpPr>
        <p:spPr>
          <a:xfrm>
            <a:off x="3364992" y="3054096"/>
            <a:ext cx="5303520" cy="40233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One-hot encoded. Parent-level geographic signal.</a:t>
            </a:r>
            <a:endParaRPr lang="en-US" sz="850" dirty="0"/>
          </a:p>
        </p:txBody>
      </p:sp>
      <p:sp>
        <p:nvSpPr>
          <p:cNvPr id="47" name="Shape 45"/>
          <p:cNvSpPr/>
          <p:nvPr/>
        </p:nvSpPr>
        <p:spPr>
          <a:xfrm>
            <a:off x="3246120" y="3602736"/>
            <a:ext cx="5532120" cy="932688"/>
          </a:xfrm>
          <a:prstGeom prst="rect">
            <a:avLst/>
          </a:prstGeom>
          <a:solidFill>
            <a:srgbClr val="1A1A1A"/>
          </a:solidFill>
          <a:ln w="12700">
            <a:solidFill>
              <a:srgbClr val="2A2A2A"/>
            </a:solidFill>
            <a:prstDash val="solid"/>
          </a:ln>
        </p:spPr>
        <p:txBody>
          <a:bodyPr/>
          <a:lstStyle/>
          <a:p>
            <a:endParaRPr lang="fr-FR"/>
          </a:p>
        </p:txBody>
      </p:sp>
      <p:sp>
        <p:nvSpPr>
          <p:cNvPr id="48" name="Shape 46"/>
          <p:cNvSpPr/>
          <p:nvPr/>
        </p:nvSpPr>
        <p:spPr>
          <a:xfrm>
            <a:off x="3246120" y="3602736"/>
            <a:ext cx="45720" cy="987552"/>
          </a:xfrm>
          <a:prstGeom prst="rect">
            <a:avLst/>
          </a:prstGeom>
          <a:solidFill>
            <a:srgbClr val="CC0000"/>
          </a:solidFill>
          <a:ln w="12700">
            <a:solidFill>
              <a:srgbClr val="CC0000"/>
            </a:solidFill>
            <a:prstDash val="solid"/>
          </a:ln>
        </p:spPr>
        <p:txBody>
          <a:bodyPr/>
          <a:lstStyle/>
          <a:p>
            <a:endParaRPr lang="fr-FR"/>
          </a:p>
        </p:txBody>
      </p:sp>
      <p:sp>
        <p:nvSpPr>
          <p:cNvPr id="49" name="Text 47"/>
          <p:cNvSpPr/>
          <p:nvPr/>
        </p:nvSpPr>
        <p:spPr>
          <a:xfrm>
            <a:off x="3364992" y="3657600"/>
            <a:ext cx="5303520" cy="219456"/>
          </a:xfrm>
          <a:prstGeom prst="rect">
            <a:avLst/>
          </a:prstGeom>
          <a:noFill/>
          <a:ln/>
        </p:spPr>
        <p:txBody>
          <a:bodyPr wrap="square" lIns="0" tIns="0" rIns="0" bIns="0" rtlCol="0" anchor="ctr"/>
          <a:lstStyle/>
          <a:p>
            <a:pPr marL="0" indent="0" algn="l">
              <a:buNone/>
            </a:pPr>
            <a:r>
              <a:rPr lang="en-US" sz="1000" b="1" dirty="0">
                <a:solidFill>
                  <a:srgbClr val="FFFFFF"/>
                </a:solidFill>
                <a:latin typeface="Consolas" pitchFamily="34" charset="0"/>
                <a:ea typeface="Consolas" pitchFamily="34" charset="-122"/>
                <a:cs typeface="Consolas" pitchFamily="34" charset="-120"/>
              </a:rPr>
              <a:t>geo_delegation</a:t>
            </a:r>
            <a:endParaRPr lang="en-US" sz="1000" dirty="0"/>
          </a:p>
        </p:txBody>
      </p:sp>
      <p:sp>
        <p:nvSpPr>
          <p:cNvPr id="50" name="Text 48"/>
          <p:cNvSpPr/>
          <p:nvPr/>
        </p:nvSpPr>
        <p:spPr>
          <a:xfrm>
            <a:off x="3364992" y="3895344"/>
            <a:ext cx="5303520" cy="182880"/>
          </a:xfrm>
          <a:prstGeom prst="rect">
            <a:avLst/>
          </a:prstGeom>
          <a:noFill/>
          <a:ln/>
        </p:spPr>
        <p:txBody>
          <a:bodyPr wrap="square" lIns="0" tIns="0" rIns="0" bIns="0" rtlCol="0" anchor="ctr"/>
          <a:lstStyle/>
          <a:p>
            <a:pPr marL="0" indent="0" algn="l">
              <a:buNone/>
            </a:pPr>
            <a:r>
              <a:rPr lang="en-US" sz="900" b="1" dirty="0">
                <a:solidFill>
                  <a:srgbClr val="FF1A1A"/>
                </a:solidFill>
                <a:latin typeface="Arial" pitchFamily="34" charset="0"/>
                <a:ea typeface="Arial" pitchFamily="34" charset="-122"/>
                <a:cs typeface="Arial" pitchFamily="34" charset="-120"/>
              </a:rPr>
              <a:t>264 delegation categories</a:t>
            </a:r>
            <a:endParaRPr lang="en-US" sz="900" dirty="0"/>
          </a:p>
        </p:txBody>
      </p:sp>
      <p:sp>
        <p:nvSpPr>
          <p:cNvPr id="51" name="Text 49"/>
          <p:cNvSpPr/>
          <p:nvPr/>
        </p:nvSpPr>
        <p:spPr>
          <a:xfrm>
            <a:off x="3364992" y="4096512"/>
            <a:ext cx="5303520" cy="40233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One-hot encoded. Finest geographic resolution — key location signal.</a:t>
            </a:r>
            <a:endParaRPr lang="en-US" sz="850" dirty="0"/>
          </a:p>
        </p:txBody>
      </p:sp>
      <p:sp>
        <p:nvSpPr>
          <p:cNvPr id="52" name="Shape 50"/>
          <p:cNvSpPr/>
          <p:nvPr/>
        </p:nvSpPr>
        <p:spPr>
          <a:xfrm>
            <a:off x="228600"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53" name="Text 51"/>
          <p:cNvSpPr/>
          <p:nvPr/>
        </p:nvSpPr>
        <p:spPr>
          <a:xfrm>
            <a:off x="228600" y="4773168"/>
            <a:ext cx="2011680" cy="146304"/>
          </a:xfrm>
          <a:prstGeom prst="rect">
            <a:avLst/>
          </a:prstGeom>
          <a:noFill/>
          <a:ln/>
        </p:spPr>
        <p:txBody>
          <a:bodyPr wrap="square" lIns="0" tIns="0" rIns="0" bIns="0" rtlCol="0" anchor="b"/>
          <a:lstStyle/>
          <a:p>
            <a:pPr marL="0" indent="0" algn="ctr">
              <a:buNone/>
            </a:pPr>
            <a:r>
              <a:rPr lang="en-US" sz="1000" b="1" dirty="0">
                <a:solidFill>
                  <a:srgbClr val="AAAAAA"/>
                </a:solidFill>
                <a:latin typeface="Arial Black" pitchFamily="34" charset="0"/>
                <a:ea typeface="Arial Black" pitchFamily="34" charset="-122"/>
                <a:cs typeface="Arial Black" pitchFamily="34" charset="-120"/>
              </a:rPr>
              <a:t>2 features</a:t>
            </a:r>
            <a:endParaRPr lang="en-US" sz="1000" dirty="0"/>
          </a:p>
        </p:txBody>
      </p:sp>
      <p:sp>
        <p:nvSpPr>
          <p:cNvPr id="54" name="Text 52"/>
          <p:cNvSpPr/>
          <p:nvPr/>
        </p:nvSpPr>
        <p:spPr>
          <a:xfrm>
            <a:off x="228600"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NUMERIC BASE</a:t>
            </a:r>
            <a:endParaRPr lang="en-US" sz="650" dirty="0"/>
          </a:p>
        </p:txBody>
      </p:sp>
      <p:sp>
        <p:nvSpPr>
          <p:cNvPr id="55" name="Shape 53"/>
          <p:cNvSpPr/>
          <p:nvPr/>
        </p:nvSpPr>
        <p:spPr>
          <a:xfrm>
            <a:off x="2404872"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56" name="Text 54"/>
          <p:cNvSpPr/>
          <p:nvPr/>
        </p:nvSpPr>
        <p:spPr>
          <a:xfrm>
            <a:off x="2404872" y="4773168"/>
            <a:ext cx="2011680" cy="146304"/>
          </a:xfrm>
          <a:prstGeom prst="rect">
            <a:avLst/>
          </a:prstGeom>
          <a:noFill/>
          <a:ln/>
        </p:spPr>
        <p:txBody>
          <a:bodyPr wrap="square" lIns="0" tIns="0" rIns="0" bIns="0" rtlCol="0" anchor="b"/>
          <a:lstStyle/>
          <a:p>
            <a:pPr marL="0" indent="0" algn="ctr">
              <a:buNone/>
            </a:pPr>
            <a:r>
              <a:rPr lang="en-US" sz="1000" b="1" dirty="0">
                <a:solidFill>
                  <a:srgbClr val="AAAAAA"/>
                </a:solidFill>
                <a:latin typeface="Arial Black" pitchFamily="34" charset="0"/>
                <a:ea typeface="Arial Black" pitchFamily="34" charset="-122"/>
                <a:cs typeface="Arial Black" pitchFamily="34" charset="-120"/>
              </a:rPr>
              <a:t>5 features</a:t>
            </a:r>
            <a:endParaRPr lang="en-US" sz="1000" dirty="0"/>
          </a:p>
        </p:txBody>
      </p:sp>
      <p:sp>
        <p:nvSpPr>
          <p:cNvPr id="57" name="Text 55"/>
          <p:cNvSpPr/>
          <p:nvPr/>
        </p:nvSpPr>
        <p:spPr>
          <a:xfrm>
            <a:off x="2404872"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ENGINEERED</a:t>
            </a:r>
            <a:endParaRPr lang="en-US" sz="650" dirty="0"/>
          </a:p>
        </p:txBody>
      </p:sp>
      <p:sp>
        <p:nvSpPr>
          <p:cNvPr id="58" name="Shape 56"/>
          <p:cNvSpPr/>
          <p:nvPr/>
        </p:nvSpPr>
        <p:spPr>
          <a:xfrm>
            <a:off x="4581144" y="4773168"/>
            <a:ext cx="2011680" cy="274320"/>
          </a:xfrm>
          <a:prstGeom prst="rect">
            <a:avLst/>
          </a:prstGeom>
          <a:solidFill>
            <a:srgbClr val="141414"/>
          </a:solidFill>
          <a:ln w="6350">
            <a:solidFill>
              <a:srgbClr val="7A0000"/>
            </a:solidFill>
            <a:prstDash val="solid"/>
          </a:ln>
        </p:spPr>
        <p:txBody>
          <a:bodyPr/>
          <a:lstStyle/>
          <a:p>
            <a:endParaRPr lang="fr-FR"/>
          </a:p>
        </p:txBody>
      </p:sp>
      <p:sp>
        <p:nvSpPr>
          <p:cNvPr id="59" name="Text 57"/>
          <p:cNvSpPr/>
          <p:nvPr/>
        </p:nvSpPr>
        <p:spPr>
          <a:xfrm>
            <a:off x="4581144" y="4773168"/>
            <a:ext cx="2011680" cy="146304"/>
          </a:xfrm>
          <a:prstGeom prst="rect">
            <a:avLst/>
          </a:prstGeom>
          <a:noFill/>
          <a:ln/>
        </p:spPr>
        <p:txBody>
          <a:bodyPr wrap="square" lIns="0" tIns="0" rIns="0" bIns="0" rtlCol="0" anchor="b"/>
          <a:lstStyle/>
          <a:p>
            <a:pPr marL="0" indent="0" algn="ctr">
              <a:buNone/>
            </a:pPr>
            <a:r>
              <a:rPr lang="en-US" sz="1000" b="1" dirty="0">
                <a:solidFill>
                  <a:srgbClr val="AAAAAA"/>
                </a:solidFill>
                <a:latin typeface="Arial Black" pitchFamily="34" charset="0"/>
                <a:ea typeface="Arial Black" pitchFamily="34" charset="-122"/>
                <a:cs typeface="Arial Black" pitchFamily="34" charset="-120"/>
              </a:rPr>
              <a:t>3 features → one-hot</a:t>
            </a:r>
            <a:endParaRPr lang="en-US" sz="1000" dirty="0"/>
          </a:p>
        </p:txBody>
      </p:sp>
      <p:sp>
        <p:nvSpPr>
          <p:cNvPr id="60" name="Text 58"/>
          <p:cNvSpPr/>
          <p:nvPr/>
        </p:nvSpPr>
        <p:spPr>
          <a:xfrm>
            <a:off x="4581144"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CATEGORICAL</a:t>
            </a:r>
            <a:endParaRPr lang="en-US" sz="650" dirty="0"/>
          </a:p>
        </p:txBody>
      </p:sp>
      <p:sp>
        <p:nvSpPr>
          <p:cNvPr id="61" name="Shape 59"/>
          <p:cNvSpPr/>
          <p:nvPr/>
        </p:nvSpPr>
        <p:spPr>
          <a:xfrm>
            <a:off x="6757416" y="4773168"/>
            <a:ext cx="2011680" cy="274320"/>
          </a:xfrm>
          <a:prstGeom prst="rect">
            <a:avLst/>
          </a:prstGeom>
          <a:solidFill>
            <a:srgbClr val="141414"/>
          </a:solidFill>
          <a:ln w="12700">
            <a:solidFill>
              <a:srgbClr val="CC0000"/>
            </a:solidFill>
            <a:prstDash val="solid"/>
          </a:ln>
        </p:spPr>
        <p:txBody>
          <a:bodyPr/>
          <a:lstStyle/>
          <a:p>
            <a:endParaRPr lang="fr-FR"/>
          </a:p>
        </p:txBody>
      </p:sp>
      <p:sp>
        <p:nvSpPr>
          <p:cNvPr id="62" name="Text 60"/>
          <p:cNvSpPr/>
          <p:nvPr/>
        </p:nvSpPr>
        <p:spPr>
          <a:xfrm>
            <a:off x="6757416" y="4773168"/>
            <a:ext cx="2011680" cy="146304"/>
          </a:xfrm>
          <a:prstGeom prst="rect">
            <a:avLst/>
          </a:prstGeom>
          <a:noFill/>
          <a:ln/>
        </p:spPr>
        <p:txBody>
          <a:bodyPr wrap="square" lIns="0" tIns="0" rIns="0" bIns="0" rtlCol="0" anchor="b"/>
          <a:lstStyle/>
          <a:p>
            <a:pPr marL="0" indent="0" algn="ctr">
              <a:buNone/>
            </a:pPr>
            <a:r>
              <a:rPr lang="en-US" sz="1000" b="1" dirty="0">
                <a:solidFill>
                  <a:srgbClr val="FF1A1A"/>
                </a:solidFill>
                <a:latin typeface="Arial Black" pitchFamily="34" charset="0"/>
                <a:ea typeface="Arial Black" pitchFamily="34" charset="-122"/>
                <a:cs typeface="Arial Black" pitchFamily="34" charset="-120"/>
              </a:rPr>
              <a:t>10 features</a:t>
            </a:r>
            <a:endParaRPr lang="en-US" sz="1000" dirty="0"/>
          </a:p>
        </p:txBody>
      </p:sp>
      <p:sp>
        <p:nvSpPr>
          <p:cNvPr id="63" name="Text 61"/>
          <p:cNvSpPr/>
          <p:nvPr/>
        </p:nvSpPr>
        <p:spPr>
          <a:xfrm>
            <a:off x="6757416" y="4892040"/>
            <a:ext cx="2011680" cy="128016"/>
          </a:xfrm>
          <a:prstGeom prst="rect">
            <a:avLst/>
          </a:prstGeom>
          <a:noFill/>
          <a:ln/>
        </p:spPr>
        <p:txBody>
          <a:bodyPr wrap="square" lIns="0" tIns="0" rIns="0" bIns="0" rtlCol="0" anchor="ctr"/>
          <a:lstStyle/>
          <a:p>
            <a:pPr marL="0" indent="0" algn="ctr">
              <a:buNone/>
            </a:pPr>
            <a:r>
              <a:rPr lang="en-US" sz="650" kern="0" spc="200" dirty="0">
                <a:solidFill>
                  <a:srgbClr val="555555"/>
                </a:solidFill>
                <a:latin typeface="Arial" pitchFamily="34" charset="0"/>
                <a:ea typeface="Arial" pitchFamily="34" charset="-122"/>
                <a:cs typeface="Arial" pitchFamily="34" charset="-120"/>
              </a:rPr>
              <a:t>TOTAL</a:t>
            </a:r>
            <a:endParaRPr lang="en-US" sz="650" dirty="0"/>
          </a:p>
        </p:txBody>
      </p:sp>
      <p:sp>
        <p:nvSpPr>
          <p:cNvPr id="64" name="Shape 62"/>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4" name="Text 2"/>
          <p:cNvSpPr/>
          <p:nvPr/>
        </p:nvSpPr>
        <p:spPr>
          <a:xfrm>
            <a:off x="228600" y="73152"/>
            <a:ext cx="64008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05  /  MODEL TRAINING &amp; EVALUATION</a:t>
            </a:r>
            <a:endParaRPr lang="en-US" sz="700" dirty="0"/>
          </a:p>
        </p:txBody>
      </p:sp>
      <p:sp>
        <p:nvSpPr>
          <p:cNvPr id="5" name="Text 3"/>
          <p:cNvSpPr/>
          <p:nvPr/>
        </p:nvSpPr>
        <p:spPr>
          <a:xfrm>
            <a:off x="228600" y="310896"/>
            <a:ext cx="8686800" cy="512064"/>
          </a:xfrm>
          <a:prstGeom prst="rect">
            <a:avLst/>
          </a:prstGeom>
          <a:noFill/>
          <a:ln/>
        </p:spPr>
        <p:txBody>
          <a:bodyPr wrap="square" lIns="0" tIns="0" rIns="0" bIns="0" rtlCol="0" anchor="ctr"/>
          <a:lstStyle/>
          <a:p>
            <a:pPr marL="0" indent="0" algn="l">
              <a:buNone/>
            </a:pPr>
            <a:r>
              <a:rPr lang="en-US" sz="3800" b="1" kern="0" spc="200" dirty="0">
                <a:solidFill>
                  <a:srgbClr val="FFFFFF"/>
                </a:solidFill>
                <a:latin typeface="Arial Black" pitchFamily="34" charset="0"/>
                <a:ea typeface="Arial Black" pitchFamily="34" charset="-122"/>
                <a:cs typeface="Arial Black" pitchFamily="34" charset="-120"/>
              </a:rPr>
              <a:t>GRADIENT BOOSTING WINS</a:t>
            </a:r>
            <a:endParaRPr lang="en-US" sz="3800" dirty="0"/>
          </a:p>
        </p:txBody>
      </p:sp>
      <p:sp>
        <p:nvSpPr>
          <p:cNvPr id="6" name="Text 4"/>
          <p:cNvSpPr/>
          <p:nvPr/>
        </p:nvSpPr>
        <p:spPr>
          <a:xfrm>
            <a:off x="228600" y="877824"/>
            <a:ext cx="8229600" cy="237744"/>
          </a:xfrm>
          <a:prstGeom prst="rect">
            <a:avLst/>
          </a:prstGeom>
          <a:noFill/>
          <a:ln/>
        </p:spPr>
        <p:txBody>
          <a:bodyPr wrap="square" lIns="0" tIns="0" rIns="0" bIns="0" rtlCol="0" anchor="ctr"/>
          <a:lstStyle/>
          <a:p>
            <a:pPr marL="0" indent="0" algn="l">
              <a:buNone/>
            </a:pPr>
            <a:r>
              <a:rPr lang="en-US" sz="950" dirty="0">
                <a:solidFill>
                  <a:srgbClr val="AAAAAA"/>
                </a:solidFill>
                <a:latin typeface="Arial" pitchFamily="34" charset="0"/>
                <a:ea typeface="Arial" pitchFamily="34" charset="-122"/>
                <a:cs typeface="Arial" pitchFamily="34" charset="-120"/>
              </a:rPr>
              <a:t>Selected over Random Forest · Trained on sklearn pipeline · Validated with 5-fold CV</a:t>
            </a:r>
            <a:endParaRPr lang="en-US" sz="950" dirty="0"/>
          </a:p>
        </p:txBody>
      </p:sp>
      <p:graphicFrame>
        <p:nvGraphicFramePr>
          <p:cNvPr id="7" name="Chart 0"/>
          <p:cNvGraphicFramePr/>
          <p:nvPr/>
        </p:nvGraphicFramePr>
        <p:xfrm>
          <a:off x="274320" y="1371600"/>
          <a:ext cx="41148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274320" y="4462272"/>
            <a:ext cx="4114800" cy="201168"/>
          </a:xfrm>
          <a:prstGeom prst="rect">
            <a:avLst/>
          </a:prstGeom>
          <a:noFill/>
          <a:ln/>
        </p:spPr>
        <p:txBody>
          <a:bodyPr wrap="square" lIns="0" tIns="0" rIns="0" bIns="0" rtlCol="0" anchor="ctr"/>
          <a:lstStyle/>
          <a:p>
            <a:pPr marL="0" indent="0" algn="ctr">
              <a:buNone/>
            </a:pPr>
            <a:r>
              <a:rPr lang="en-US" sz="800" kern="0" spc="200" dirty="0">
                <a:solidFill>
                  <a:srgbClr val="555555"/>
                </a:solidFill>
                <a:latin typeface="Arial" pitchFamily="34" charset="0"/>
                <a:ea typeface="Arial" pitchFamily="34" charset="-122"/>
                <a:cs typeface="Arial" pitchFamily="34" charset="-120"/>
              </a:rPr>
              <a:t>MODEL COMPARISON — VALIDATION R²</a:t>
            </a:r>
            <a:endParaRPr lang="en-US" sz="800" dirty="0"/>
          </a:p>
        </p:txBody>
      </p:sp>
      <p:sp>
        <p:nvSpPr>
          <p:cNvPr id="9" name="Shape 6"/>
          <p:cNvSpPr/>
          <p:nvPr/>
        </p:nvSpPr>
        <p:spPr>
          <a:xfrm>
            <a:off x="4663440" y="1371600"/>
            <a:ext cx="4251960" cy="77724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0" name="Shape 7"/>
          <p:cNvSpPr/>
          <p:nvPr/>
        </p:nvSpPr>
        <p:spPr>
          <a:xfrm>
            <a:off x="4663440" y="1371600"/>
            <a:ext cx="54864" cy="777240"/>
          </a:xfrm>
          <a:prstGeom prst="rect">
            <a:avLst/>
          </a:prstGeom>
          <a:solidFill>
            <a:srgbClr val="CC0000"/>
          </a:solidFill>
          <a:ln w="12700">
            <a:solidFill>
              <a:srgbClr val="CC0000"/>
            </a:solidFill>
            <a:prstDash val="solid"/>
          </a:ln>
        </p:spPr>
        <p:txBody>
          <a:bodyPr/>
          <a:lstStyle/>
          <a:p>
            <a:endParaRPr lang="fr-FR"/>
          </a:p>
        </p:txBody>
      </p:sp>
      <p:sp>
        <p:nvSpPr>
          <p:cNvPr id="11" name="Text 8"/>
          <p:cNvSpPr/>
          <p:nvPr/>
        </p:nvSpPr>
        <p:spPr>
          <a:xfrm>
            <a:off x="4773168" y="1408176"/>
            <a:ext cx="1280160" cy="411480"/>
          </a:xfrm>
          <a:prstGeom prst="rect">
            <a:avLst/>
          </a:prstGeom>
          <a:noFill/>
          <a:ln/>
        </p:spPr>
        <p:txBody>
          <a:bodyPr wrap="square" lIns="0" tIns="0" rIns="0" bIns="0" rtlCol="0" anchor="ctr"/>
          <a:lstStyle/>
          <a:p>
            <a:pPr marL="0" indent="0" algn="l">
              <a:buNone/>
            </a:pPr>
            <a:r>
              <a:rPr lang="en-US" sz="2400" b="1" dirty="0">
                <a:solidFill>
                  <a:srgbClr val="FF1A1A"/>
                </a:solidFill>
                <a:latin typeface="Arial Black" pitchFamily="34" charset="0"/>
                <a:ea typeface="Arial Black" pitchFamily="34" charset="-122"/>
                <a:cs typeface="Arial Black" pitchFamily="34" charset="-120"/>
              </a:rPr>
              <a:t>0.890</a:t>
            </a:r>
            <a:endParaRPr lang="en-US" sz="2400" dirty="0"/>
          </a:p>
        </p:txBody>
      </p:sp>
      <p:sp>
        <p:nvSpPr>
          <p:cNvPr id="12" name="Text 9"/>
          <p:cNvSpPr/>
          <p:nvPr/>
        </p:nvSpPr>
        <p:spPr>
          <a:xfrm>
            <a:off x="6080760" y="1426464"/>
            <a:ext cx="27432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Black" pitchFamily="34" charset="0"/>
                <a:ea typeface="Arial Black" pitchFamily="34" charset="-122"/>
                <a:cs typeface="Arial Black" pitchFamily="34" charset="-120"/>
              </a:rPr>
              <a:t>TEST R²</a:t>
            </a:r>
            <a:endParaRPr lang="en-US" sz="1000" dirty="0"/>
          </a:p>
        </p:txBody>
      </p:sp>
      <p:sp>
        <p:nvSpPr>
          <p:cNvPr id="13" name="Text 10"/>
          <p:cNvSpPr/>
          <p:nvPr/>
        </p:nvSpPr>
        <p:spPr>
          <a:xfrm>
            <a:off x="4773168" y="1865376"/>
            <a:ext cx="4023360" cy="21945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Held-out test set performance</a:t>
            </a:r>
            <a:endParaRPr lang="en-US" sz="850" dirty="0"/>
          </a:p>
        </p:txBody>
      </p:sp>
      <p:sp>
        <p:nvSpPr>
          <p:cNvPr id="14" name="Shape 11"/>
          <p:cNvSpPr/>
          <p:nvPr/>
        </p:nvSpPr>
        <p:spPr>
          <a:xfrm>
            <a:off x="4663440" y="2286000"/>
            <a:ext cx="4251960" cy="77724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5" name="Shape 12"/>
          <p:cNvSpPr/>
          <p:nvPr/>
        </p:nvSpPr>
        <p:spPr>
          <a:xfrm>
            <a:off x="4663440" y="2286000"/>
            <a:ext cx="54864" cy="777240"/>
          </a:xfrm>
          <a:prstGeom prst="rect">
            <a:avLst/>
          </a:prstGeom>
          <a:solidFill>
            <a:srgbClr val="CC0000"/>
          </a:solidFill>
          <a:ln w="12700">
            <a:solidFill>
              <a:srgbClr val="CC0000"/>
            </a:solidFill>
            <a:prstDash val="solid"/>
          </a:ln>
        </p:spPr>
        <p:txBody>
          <a:bodyPr/>
          <a:lstStyle/>
          <a:p>
            <a:endParaRPr lang="fr-FR"/>
          </a:p>
        </p:txBody>
      </p:sp>
      <p:sp>
        <p:nvSpPr>
          <p:cNvPr id="16" name="Text 13"/>
          <p:cNvSpPr/>
          <p:nvPr/>
        </p:nvSpPr>
        <p:spPr>
          <a:xfrm>
            <a:off x="4773168" y="2322576"/>
            <a:ext cx="1280160" cy="411480"/>
          </a:xfrm>
          <a:prstGeom prst="rect">
            <a:avLst/>
          </a:prstGeom>
          <a:noFill/>
          <a:ln/>
        </p:spPr>
        <p:txBody>
          <a:bodyPr wrap="square" lIns="0" tIns="0" rIns="0" bIns="0" rtlCol="0" anchor="ctr"/>
          <a:lstStyle/>
          <a:p>
            <a:pPr marL="0" indent="0" algn="l">
              <a:buNone/>
            </a:pPr>
            <a:r>
              <a:rPr lang="en-US" sz="2400" b="1" dirty="0">
                <a:solidFill>
                  <a:srgbClr val="FF1A1A"/>
                </a:solidFill>
                <a:latin typeface="Arial Black" pitchFamily="34" charset="0"/>
                <a:ea typeface="Arial Black" pitchFamily="34" charset="-122"/>
                <a:cs typeface="Arial Black" pitchFamily="34" charset="-120"/>
              </a:rPr>
              <a:t>0.928</a:t>
            </a:r>
            <a:endParaRPr lang="en-US" sz="2400" dirty="0"/>
          </a:p>
        </p:txBody>
      </p:sp>
      <p:sp>
        <p:nvSpPr>
          <p:cNvPr id="17" name="Text 14"/>
          <p:cNvSpPr/>
          <p:nvPr/>
        </p:nvSpPr>
        <p:spPr>
          <a:xfrm>
            <a:off x="6080760" y="2340864"/>
            <a:ext cx="27432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Black" pitchFamily="34" charset="0"/>
                <a:ea typeface="Arial Black" pitchFamily="34" charset="-122"/>
                <a:cs typeface="Arial Black" pitchFamily="34" charset="-120"/>
              </a:rPr>
              <a:t>CV R²</a:t>
            </a:r>
            <a:endParaRPr lang="en-US" sz="1000" dirty="0"/>
          </a:p>
        </p:txBody>
      </p:sp>
      <p:sp>
        <p:nvSpPr>
          <p:cNvPr id="18" name="Text 15"/>
          <p:cNvSpPr/>
          <p:nvPr/>
        </p:nvSpPr>
        <p:spPr>
          <a:xfrm>
            <a:off x="4773168" y="2779776"/>
            <a:ext cx="4023360" cy="21945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5-fold cross-validation mean</a:t>
            </a:r>
            <a:endParaRPr lang="en-US" sz="850" dirty="0"/>
          </a:p>
        </p:txBody>
      </p:sp>
      <p:sp>
        <p:nvSpPr>
          <p:cNvPr id="19" name="Shape 16"/>
          <p:cNvSpPr/>
          <p:nvPr/>
        </p:nvSpPr>
        <p:spPr>
          <a:xfrm>
            <a:off x="4663440" y="3200400"/>
            <a:ext cx="4251960" cy="77724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0" name="Shape 17"/>
          <p:cNvSpPr/>
          <p:nvPr/>
        </p:nvSpPr>
        <p:spPr>
          <a:xfrm>
            <a:off x="4663440" y="3200400"/>
            <a:ext cx="54864" cy="777240"/>
          </a:xfrm>
          <a:prstGeom prst="rect">
            <a:avLst/>
          </a:prstGeom>
          <a:solidFill>
            <a:srgbClr val="555555"/>
          </a:solidFill>
          <a:ln w="12700">
            <a:solidFill>
              <a:srgbClr val="555555"/>
            </a:solidFill>
            <a:prstDash val="solid"/>
          </a:ln>
        </p:spPr>
        <p:txBody>
          <a:bodyPr/>
          <a:lstStyle/>
          <a:p>
            <a:endParaRPr lang="fr-FR"/>
          </a:p>
        </p:txBody>
      </p:sp>
      <p:sp>
        <p:nvSpPr>
          <p:cNvPr id="21" name="Text 18"/>
          <p:cNvSpPr/>
          <p:nvPr/>
        </p:nvSpPr>
        <p:spPr>
          <a:xfrm>
            <a:off x="4773168" y="3236976"/>
            <a:ext cx="1280160" cy="411480"/>
          </a:xfrm>
          <a:prstGeom prst="rect">
            <a:avLst/>
          </a:prstGeom>
          <a:noFill/>
          <a:ln/>
        </p:spPr>
        <p:txBody>
          <a:bodyPr wrap="square" lIns="0" tIns="0" rIns="0" bIns="0" rtlCol="0" anchor="ctr"/>
          <a:lstStyle/>
          <a:p>
            <a:pPr marL="0" indent="0" algn="l">
              <a:buNone/>
            </a:pPr>
            <a:r>
              <a:rPr lang="en-US" sz="2400" b="1" dirty="0">
                <a:solidFill>
                  <a:srgbClr val="AAAAAA"/>
                </a:solidFill>
                <a:latin typeface="Arial Black" pitchFamily="34" charset="0"/>
                <a:ea typeface="Arial Black" pitchFamily="34" charset="-122"/>
                <a:cs typeface="Arial Black" pitchFamily="34" charset="-120"/>
              </a:rPr>
              <a:t>±0.003</a:t>
            </a:r>
            <a:endParaRPr lang="en-US" sz="2400" dirty="0"/>
          </a:p>
        </p:txBody>
      </p:sp>
      <p:sp>
        <p:nvSpPr>
          <p:cNvPr id="22" name="Text 19"/>
          <p:cNvSpPr/>
          <p:nvPr/>
        </p:nvSpPr>
        <p:spPr>
          <a:xfrm>
            <a:off x="6080760" y="3255264"/>
            <a:ext cx="27432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Black" pitchFamily="34" charset="0"/>
                <a:ea typeface="Arial Black" pitchFamily="34" charset="-122"/>
                <a:cs typeface="Arial Black" pitchFamily="34" charset="-120"/>
              </a:rPr>
              <a:t>CV STD DEV</a:t>
            </a:r>
            <a:endParaRPr lang="en-US" sz="1000" dirty="0"/>
          </a:p>
        </p:txBody>
      </p:sp>
      <p:sp>
        <p:nvSpPr>
          <p:cNvPr id="23" name="Text 20"/>
          <p:cNvSpPr/>
          <p:nvPr/>
        </p:nvSpPr>
        <p:spPr>
          <a:xfrm>
            <a:off x="4773168" y="3694176"/>
            <a:ext cx="4023360" cy="21945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Low variance — stable generalization</a:t>
            </a:r>
            <a:endParaRPr lang="en-US" sz="850" dirty="0"/>
          </a:p>
        </p:txBody>
      </p:sp>
      <p:sp>
        <p:nvSpPr>
          <p:cNvPr id="24" name="Shape 21"/>
          <p:cNvSpPr/>
          <p:nvPr/>
        </p:nvSpPr>
        <p:spPr>
          <a:xfrm>
            <a:off x="4663440" y="4114800"/>
            <a:ext cx="4251960" cy="77724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5" name="Shape 22"/>
          <p:cNvSpPr/>
          <p:nvPr/>
        </p:nvSpPr>
        <p:spPr>
          <a:xfrm>
            <a:off x="4663440" y="4114800"/>
            <a:ext cx="54864" cy="777240"/>
          </a:xfrm>
          <a:prstGeom prst="rect">
            <a:avLst/>
          </a:prstGeom>
          <a:solidFill>
            <a:srgbClr val="555555"/>
          </a:solidFill>
          <a:ln w="12700">
            <a:solidFill>
              <a:srgbClr val="555555"/>
            </a:solidFill>
            <a:prstDash val="solid"/>
          </a:ln>
        </p:spPr>
        <p:txBody>
          <a:bodyPr/>
          <a:lstStyle/>
          <a:p>
            <a:endParaRPr lang="fr-FR"/>
          </a:p>
        </p:txBody>
      </p:sp>
      <p:sp>
        <p:nvSpPr>
          <p:cNvPr id="26" name="Text 23"/>
          <p:cNvSpPr/>
          <p:nvPr/>
        </p:nvSpPr>
        <p:spPr>
          <a:xfrm>
            <a:off x="4773168" y="4151376"/>
            <a:ext cx="1280160" cy="411480"/>
          </a:xfrm>
          <a:prstGeom prst="rect">
            <a:avLst/>
          </a:prstGeom>
          <a:noFill/>
          <a:ln/>
        </p:spPr>
        <p:txBody>
          <a:bodyPr wrap="square" lIns="0" tIns="0" rIns="0" bIns="0" rtlCol="0" anchor="ctr"/>
          <a:lstStyle/>
          <a:p>
            <a:pPr marL="0" indent="0" algn="l">
              <a:buNone/>
            </a:pPr>
            <a:r>
              <a:rPr lang="en-US" sz="2400" b="1" dirty="0">
                <a:solidFill>
                  <a:srgbClr val="AAAAAA"/>
                </a:solidFill>
                <a:latin typeface="Arial Black" pitchFamily="34" charset="0"/>
                <a:ea typeface="Arial Black" pitchFamily="34" charset="-122"/>
                <a:cs typeface="Arial Black" pitchFamily="34" charset="-120"/>
              </a:rPr>
              <a:t>GBR</a:t>
            </a:r>
            <a:endParaRPr lang="en-US" sz="2400" dirty="0"/>
          </a:p>
        </p:txBody>
      </p:sp>
      <p:sp>
        <p:nvSpPr>
          <p:cNvPr id="27" name="Text 24"/>
          <p:cNvSpPr/>
          <p:nvPr/>
        </p:nvSpPr>
        <p:spPr>
          <a:xfrm>
            <a:off x="6080760" y="4169664"/>
            <a:ext cx="27432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Black" pitchFamily="34" charset="0"/>
                <a:ea typeface="Arial Black" pitchFamily="34" charset="-122"/>
                <a:cs typeface="Arial Black" pitchFamily="34" charset="-120"/>
              </a:rPr>
              <a:t>WINNER</a:t>
            </a:r>
            <a:endParaRPr lang="en-US" sz="1000" dirty="0"/>
          </a:p>
        </p:txBody>
      </p:sp>
      <p:sp>
        <p:nvSpPr>
          <p:cNvPr id="28" name="Text 25"/>
          <p:cNvSpPr/>
          <p:nvPr/>
        </p:nvSpPr>
        <p:spPr>
          <a:xfrm>
            <a:off x="4773168" y="4608576"/>
            <a:ext cx="4023360" cy="219456"/>
          </a:xfrm>
          <a:prstGeom prst="rect">
            <a:avLst/>
          </a:prstGeom>
          <a:noFill/>
          <a:ln/>
        </p:spPr>
        <p:txBody>
          <a:bodyPr wrap="square" lIns="0" tIns="0" rIns="0" bIns="0" rtlCol="0" anchor="ctr"/>
          <a:lstStyle/>
          <a:p>
            <a:pPr marL="0" indent="0" algn="l">
              <a:buNone/>
            </a:pPr>
            <a:r>
              <a:rPr lang="en-US" sz="850" dirty="0">
                <a:solidFill>
                  <a:srgbClr val="AAAAAA"/>
                </a:solidFill>
                <a:latin typeface="Arial" pitchFamily="34" charset="0"/>
                <a:ea typeface="Arial" pitchFamily="34" charset="-122"/>
                <a:cs typeface="Arial" pitchFamily="34" charset="-120"/>
              </a:rPr>
              <a:t>GradientBoostingRegressor sklearn</a:t>
            </a:r>
            <a:endParaRPr lang="en-US" sz="850" dirty="0"/>
          </a:p>
        </p:txBody>
      </p:sp>
      <p:sp>
        <p:nvSpPr>
          <p:cNvPr id="29" name="Shape 26"/>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4" name="Text 2"/>
          <p:cNvSpPr/>
          <p:nvPr/>
        </p:nvSpPr>
        <p:spPr>
          <a:xfrm>
            <a:off x="228600" y="73152"/>
            <a:ext cx="64008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06  /  FALLBACK PREDICTION LOGIC</a:t>
            </a:r>
            <a:endParaRPr lang="en-US" sz="700" dirty="0"/>
          </a:p>
        </p:txBody>
      </p:sp>
      <p:sp>
        <p:nvSpPr>
          <p:cNvPr id="5" name="Text 3"/>
          <p:cNvSpPr/>
          <p:nvPr/>
        </p:nvSpPr>
        <p:spPr>
          <a:xfrm>
            <a:off x="228600" y="292608"/>
            <a:ext cx="8686800" cy="512064"/>
          </a:xfrm>
          <a:prstGeom prst="rect">
            <a:avLst/>
          </a:prstGeom>
          <a:noFill/>
          <a:ln/>
        </p:spPr>
        <p:txBody>
          <a:bodyPr wrap="square" lIns="0" tIns="0" rIns="0" bIns="0" rtlCol="0" anchor="ctr"/>
          <a:lstStyle/>
          <a:p>
            <a:pPr marL="0" indent="0" algn="l">
              <a:buNone/>
            </a:pPr>
            <a:r>
              <a:rPr lang="en-US" sz="3800" b="1" kern="0" spc="200" dirty="0">
                <a:solidFill>
                  <a:srgbClr val="FFFFFF"/>
                </a:solidFill>
                <a:latin typeface="Arial Black" pitchFamily="34" charset="0"/>
                <a:ea typeface="Arial Black" pitchFamily="34" charset="-122"/>
                <a:cs typeface="Arial Black" pitchFamily="34" charset="-120"/>
              </a:rPr>
              <a:t>FULL NATIONAL COVERAGE</a:t>
            </a:r>
            <a:endParaRPr lang="en-US" sz="3800" dirty="0"/>
          </a:p>
        </p:txBody>
      </p:sp>
      <p:sp>
        <p:nvSpPr>
          <p:cNvPr id="6" name="Text 4"/>
          <p:cNvSpPr/>
          <p:nvPr/>
        </p:nvSpPr>
        <p:spPr>
          <a:xfrm>
            <a:off x="228600" y="987552"/>
            <a:ext cx="8229600" cy="256032"/>
          </a:xfrm>
          <a:prstGeom prst="rect">
            <a:avLst/>
          </a:prstGeom>
          <a:noFill/>
          <a:ln/>
        </p:spPr>
        <p:txBody>
          <a:bodyPr wrap="square" lIns="0" tIns="0" rIns="0" bIns="0" rtlCol="0" anchor="ctr"/>
          <a:lstStyle/>
          <a:p>
            <a:pPr marL="0" indent="0" algn="l">
              <a:buNone/>
            </a:pPr>
            <a:r>
              <a:rPr lang="en-US" sz="1150" dirty="0">
                <a:solidFill>
                  <a:srgbClr val="AAAAAA"/>
                </a:solidFill>
                <a:latin typeface="Arial" pitchFamily="34" charset="0"/>
                <a:ea typeface="Arial" pitchFamily="34" charset="-122"/>
                <a:cs typeface="Arial" pitchFamily="34" charset="-120"/>
              </a:rPr>
              <a:t>Hierarchical fallback ensures every delegation returns a prediction.</a:t>
            </a:r>
            <a:endParaRPr lang="en-US" sz="1150" dirty="0"/>
          </a:p>
        </p:txBody>
      </p:sp>
      <p:sp>
        <p:nvSpPr>
          <p:cNvPr id="7" name="Shape 5"/>
          <p:cNvSpPr/>
          <p:nvPr/>
        </p:nvSpPr>
        <p:spPr>
          <a:xfrm>
            <a:off x="228600" y="1371600"/>
            <a:ext cx="5303520" cy="98755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8" name="Shape 6"/>
          <p:cNvSpPr/>
          <p:nvPr/>
        </p:nvSpPr>
        <p:spPr>
          <a:xfrm>
            <a:off x="228600" y="1371600"/>
            <a:ext cx="73152" cy="987552"/>
          </a:xfrm>
          <a:prstGeom prst="rect">
            <a:avLst/>
          </a:prstGeom>
          <a:solidFill>
            <a:srgbClr val="CC0000"/>
          </a:solidFill>
          <a:ln w="12700">
            <a:solidFill>
              <a:srgbClr val="CC0000"/>
            </a:solidFill>
            <a:prstDash val="solid"/>
          </a:ln>
        </p:spPr>
        <p:txBody>
          <a:bodyPr/>
          <a:lstStyle/>
          <a:p>
            <a:endParaRPr lang="fr-FR"/>
          </a:p>
        </p:txBody>
      </p:sp>
      <p:sp>
        <p:nvSpPr>
          <p:cNvPr id="9" name="Text 7"/>
          <p:cNvSpPr/>
          <p:nvPr/>
        </p:nvSpPr>
        <p:spPr>
          <a:xfrm>
            <a:off x="411480" y="1417320"/>
            <a:ext cx="3657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TIER 1 — DIRECT</a:t>
            </a:r>
            <a:endParaRPr lang="en-US" sz="1100" dirty="0"/>
          </a:p>
        </p:txBody>
      </p:sp>
      <p:sp>
        <p:nvSpPr>
          <p:cNvPr id="10" name="Shape 8"/>
          <p:cNvSpPr/>
          <p:nvPr/>
        </p:nvSpPr>
        <p:spPr>
          <a:xfrm>
            <a:off x="4114800" y="1426464"/>
            <a:ext cx="1325880" cy="246888"/>
          </a:xfrm>
          <a:prstGeom prst="rect">
            <a:avLst/>
          </a:prstGeom>
          <a:solidFill>
            <a:srgbClr val="CC0000"/>
          </a:solidFill>
          <a:ln w="12700">
            <a:solidFill>
              <a:srgbClr val="CC0000"/>
            </a:solidFill>
            <a:prstDash val="solid"/>
          </a:ln>
        </p:spPr>
        <p:txBody>
          <a:bodyPr/>
          <a:lstStyle/>
          <a:p>
            <a:endParaRPr lang="fr-FR"/>
          </a:p>
        </p:txBody>
      </p:sp>
      <p:sp>
        <p:nvSpPr>
          <p:cNvPr id="11" name="Text 9"/>
          <p:cNvSpPr/>
          <p:nvPr/>
        </p:nvSpPr>
        <p:spPr>
          <a:xfrm>
            <a:off x="4114800" y="1426464"/>
            <a:ext cx="1325880" cy="246888"/>
          </a:xfrm>
          <a:prstGeom prst="rect">
            <a:avLst/>
          </a:prstGeom>
          <a:noFill/>
          <a:ln/>
        </p:spPr>
        <p:txBody>
          <a:bodyPr wrap="square" lIns="0" tIns="0" rIns="0" bIns="0" rtlCol="0" anchor="ctr"/>
          <a:lstStyle/>
          <a:p>
            <a:pPr marL="0" indent="0" algn="ctr">
              <a:buNone/>
            </a:pPr>
            <a:r>
              <a:rPr lang="en-US" sz="750" b="1" dirty="0">
                <a:solidFill>
                  <a:srgbClr val="FF1A1A"/>
                </a:solidFill>
                <a:latin typeface="Arial Black" pitchFamily="34" charset="0"/>
                <a:ea typeface="Arial Black" pitchFamily="34" charset="-122"/>
                <a:cs typeface="Arial Black" pitchFamily="34" charset="-120"/>
              </a:rPr>
              <a:t>103 DELEGATIONS</a:t>
            </a:r>
            <a:endParaRPr lang="en-US" sz="750" dirty="0"/>
          </a:p>
        </p:txBody>
      </p:sp>
      <p:sp>
        <p:nvSpPr>
          <p:cNvPr id="12" name="Text 10"/>
          <p:cNvSpPr/>
          <p:nvPr/>
        </p:nvSpPr>
        <p:spPr>
          <a:xfrm>
            <a:off x="411480" y="1773936"/>
            <a:ext cx="4937760" cy="512064"/>
          </a:xfrm>
          <a:prstGeom prst="rect">
            <a:avLst/>
          </a:prstGeom>
          <a:noFill/>
          <a:ln/>
        </p:spPr>
        <p:txBody>
          <a:bodyPr wrap="square" lIns="0" tIns="0" rIns="0" bIns="0" rtlCol="0" anchor="ctr"/>
          <a:lstStyle/>
          <a:p>
            <a:pPr marL="0" indent="0" algn="l">
              <a:buNone/>
            </a:pPr>
            <a:r>
              <a:rPr lang="en-US" sz="950" dirty="0">
                <a:solidFill>
                  <a:srgbClr val="AAAAAA"/>
                </a:solidFill>
                <a:latin typeface="Arial" pitchFamily="34" charset="0"/>
                <a:ea typeface="Arial" pitchFamily="34" charset="-122"/>
                <a:cs typeface="Arial" pitchFamily="34" charset="-120"/>
              </a:rPr>
              <a:t>Delegation has direct training evidence. Model uses local target encoding. Highest confidence.</a:t>
            </a:r>
            <a:endParaRPr lang="en-US" sz="950" dirty="0"/>
          </a:p>
        </p:txBody>
      </p:sp>
      <p:sp>
        <p:nvSpPr>
          <p:cNvPr id="13" name="Shape 11"/>
          <p:cNvSpPr/>
          <p:nvPr/>
        </p:nvSpPr>
        <p:spPr>
          <a:xfrm>
            <a:off x="2880360" y="2359152"/>
            <a:ext cx="0" cy="201168"/>
          </a:xfrm>
          <a:prstGeom prst="line">
            <a:avLst/>
          </a:prstGeom>
          <a:noFill/>
          <a:ln w="19050">
            <a:solidFill>
              <a:srgbClr val="7A0000"/>
            </a:solidFill>
            <a:prstDash val="solid"/>
          </a:ln>
        </p:spPr>
        <p:txBody>
          <a:bodyPr/>
          <a:lstStyle/>
          <a:p>
            <a:endParaRPr lang="fr-FR"/>
          </a:p>
        </p:txBody>
      </p:sp>
      <p:sp>
        <p:nvSpPr>
          <p:cNvPr id="14" name="Text 12"/>
          <p:cNvSpPr/>
          <p:nvPr/>
        </p:nvSpPr>
        <p:spPr>
          <a:xfrm>
            <a:off x="2697480" y="2395728"/>
            <a:ext cx="365760" cy="164592"/>
          </a:xfrm>
          <a:prstGeom prst="rect">
            <a:avLst/>
          </a:prstGeom>
          <a:noFill/>
          <a:ln/>
        </p:spPr>
        <p:txBody>
          <a:bodyPr wrap="square" lIns="0" tIns="0" rIns="0" bIns="0" rtlCol="0" anchor="ctr"/>
          <a:lstStyle/>
          <a:p>
            <a:pPr marL="0" indent="0" algn="ctr">
              <a:buNone/>
            </a:pPr>
            <a:r>
              <a:rPr lang="en-US" sz="800" dirty="0">
                <a:solidFill>
                  <a:srgbClr val="7A0000"/>
                </a:solidFill>
              </a:rPr>
              <a:t>▼</a:t>
            </a:r>
            <a:endParaRPr lang="en-US" sz="800" dirty="0"/>
          </a:p>
        </p:txBody>
      </p:sp>
      <p:sp>
        <p:nvSpPr>
          <p:cNvPr id="15" name="Shape 13"/>
          <p:cNvSpPr/>
          <p:nvPr/>
        </p:nvSpPr>
        <p:spPr>
          <a:xfrm>
            <a:off x="228600" y="2560320"/>
            <a:ext cx="5303520" cy="98755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6" name="Shape 14"/>
          <p:cNvSpPr/>
          <p:nvPr/>
        </p:nvSpPr>
        <p:spPr>
          <a:xfrm>
            <a:off x="228600" y="2560320"/>
            <a:ext cx="73152" cy="987552"/>
          </a:xfrm>
          <a:prstGeom prst="rect">
            <a:avLst/>
          </a:prstGeom>
          <a:solidFill>
            <a:srgbClr val="555555"/>
          </a:solidFill>
          <a:ln w="12700">
            <a:solidFill>
              <a:srgbClr val="555555"/>
            </a:solidFill>
            <a:prstDash val="solid"/>
          </a:ln>
        </p:spPr>
        <p:txBody>
          <a:bodyPr/>
          <a:lstStyle/>
          <a:p>
            <a:endParaRPr lang="fr-FR"/>
          </a:p>
        </p:txBody>
      </p:sp>
      <p:sp>
        <p:nvSpPr>
          <p:cNvPr id="17" name="Text 15"/>
          <p:cNvSpPr/>
          <p:nvPr/>
        </p:nvSpPr>
        <p:spPr>
          <a:xfrm>
            <a:off x="411480" y="2606040"/>
            <a:ext cx="3657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TIER 2 — GOVERNORATE FALLBACK</a:t>
            </a:r>
            <a:endParaRPr lang="en-US" sz="1100" dirty="0"/>
          </a:p>
        </p:txBody>
      </p:sp>
      <p:sp>
        <p:nvSpPr>
          <p:cNvPr id="18" name="Shape 16"/>
          <p:cNvSpPr/>
          <p:nvPr/>
        </p:nvSpPr>
        <p:spPr>
          <a:xfrm>
            <a:off x="4114800" y="2615184"/>
            <a:ext cx="1325880" cy="246888"/>
          </a:xfrm>
          <a:prstGeom prst="rect">
            <a:avLst/>
          </a:prstGeom>
          <a:solidFill>
            <a:srgbClr val="444444"/>
          </a:solidFill>
          <a:ln w="12700">
            <a:solidFill>
              <a:srgbClr val="555555"/>
            </a:solidFill>
            <a:prstDash val="solid"/>
          </a:ln>
        </p:spPr>
        <p:txBody>
          <a:bodyPr/>
          <a:lstStyle/>
          <a:p>
            <a:endParaRPr lang="fr-FR"/>
          </a:p>
        </p:txBody>
      </p:sp>
      <p:sp>
        <p:nvSpPr>
          <p:cNvPr id="19" name="Text 17"/>
          <p:cNvSpPr/>
          <p:nvPr/>
        </p:nvSpPr>
        <p:spPr>
          <a:xfrm>
            <a:off x="4114800" y="2615184"/>
            <a:ext cx="1325880" cy="246888"/>
          </a:xfrm>
          <a:prstGeom prst="rect">
            <a:avLst/>
          </a:prstGeom>
          <a:noFill/>
          <a:ln/>
        </p:spPr>
        <p:txBody>
          <a:bodyPr wrap="square" lIns="0" tIns="0" rIns="0" bIns="0" rtlCol="0" anchor="ctr"/>
          <a:lstStyle/>
          <a:p>
            <a:pPr marL="0" indent="0" algn="ctr">
              <a:buNone/>
            </a:pPr>
            <a:r>
              <a:rPr lang="en-US" sz="750" b="1" dirty="0">
                <a:solidFill>
                  <a:srgbClr val="AAAAAA"/>
                </a:solidFill>
                <a:latin typeface="Arial Black" pitchFamily="34" charset="0"/>
                <a:ea typeface="Arial Black" pitchFamily="34" charset="-122"/>
                <a:cs typeface="Arial Black" pitchFamily="34" charset="-120"/>
              </a:rPr>
              <a:t>PARTIAL COVERAGE</a:t>
            </a:r>
            <a:endParaRPr lang="en-US" sz="750" dirty="0"/>
          </a:p>
        </p:txBody>
      </p:sp>
      <p:sp>
        <p:nvSpPr>
          <p:cNvPr id="20" name="Text 18"/>
          <p:cNvSpPr/>
          <p:nvPr/>
        </p:nvSpPr>
        <p:spPr>
          <a:xfrm>
            <a:off x="411480" y="2962656"/>
            <a:ext cx="4937760" cy="512064"/>
          </a:xfrm>
          <a:prstGeom prst="rect">
            <a:avLst/>
          </a:prstGeom>
          <a:noFill/>
          <a:ln/>
        </p:spPr>
        <p:txBody>
          <a:bodyPr wrap="square" lIns="0" tIns="0" rIns="0" bIns="0" rtlCol="0" anchor="ctr"/>
          <a:lstStyle/>
          <a:p>
            <a:pPr marL="0" indent="0" algn="l">
              <a:buNone/>
            </a:pPr>
            <a:r>
              <a:rPr lang="en-US" sz="950" dirty="0">
                <a:solidFill>
                  <a:srgbClr val="AAAAAA"/>
                </a:solidFill>
                <a:latin typeface="Arial" pitchFamily="34" charset="0"/>
                <a:ea typeface="Arial" pitchFamily="34" charset="-122"/>
                <a:cs typeface="Arial" pitchFamily="34" charset="-120"/>
              </a:rPr>
              <a:t>Delegation is sparse. Parent governorate encoding substituted. Confidence adjusted.</a:t>
            </a:r>
            <a:endParaRPr lang="en-US" sz="950" dirty="0"/>
          </a:p>
        </p:txBody>
      </p:sp>
      <p:sp>
        <p:nvSpPr>
          <p:cNvPr id="21" name="Shape 19"/>
          <p:cNvSpPr/>
          <p:nvPr/>
        </p:nvSpPr>
        <p:spPr>
          <a:xfrm>
            <a:off x="2880360" y="3547872"/>
            <a:ext cx="0" cy="201168"/>
          </a:xfrm>
          <a:prstGeom prst="line">
            <a:avLst/>
          </a:prstGeom>
          <a:noFill/>
          <a:ln w="19050">
            <a:solidFill>
              <a:srgbClr val="7A0000"/>
            </a:solidFill>
            <a:prstDash val="solid"/>
          </a:ln>
        </p:spPr>
        <p:txBody>
          <a:bodyPr/>
          <a:lstStyle/>
          <a:p>
            <a:endParaRPr lang="fr-FR"/>
          </a:p>
        </p:txBody>
      </p:sp>
      <p:sp>
        <p:nvSpPr>
          <p:cNvPr id="22" name="Text 20"/>
          <p:cNvSpPr/>
          <p:nvPr/>
        </p:nvSpPr>
        <p:spPr>
          <a:xfrm>
            <a:off x="2697480" y="3584448"/>
            <a:ext cx="365760" cy="164592"/>
          </a:xfrm>
          <a:prstGeom prst="rect">
            <a:avLst/>
          </a:prstGeom>
          <a:noFill/>
          <a:ln/>
        </p:spPr>
        <p:txBody>
          <a:bodyPr wrap="square" lIns="0" tIns="0" rIns="0" bIns="0" rtlCol="0" anchor="ctr"/>
          <a:lstStyle/>
          <a:p>
            <a:pPr marL="0" indent="0" algn="ctr">
              <a:buNone/>
            </a:pPr>
            <a:r>
              <a:rPr lang="en-US" sz="800" dirty="0">
                <a:solidFill>
                  <a:srgbClr val="7A0000"/>
                </a:solidFill>
              </a:rPr>
              <a:t>▼</a:t>
            </a:r>
            <a:endParaRPr lang="en-US" sz="800" dirty="0"/>
          </a:p>
        </p:txBody>
      </p:sp>
      <p:sp>
        <p:nvSpPr>
          <p:cNvPr id="23" name="Shape 21"/>
          <p:cNvSpPr/>
          <p:nvPr/>
        </p:nvSpPr>
        <p:spPr>
          <a:xfrm>
            <a:off x="228600" y="3749040"/>
            <a:ext cx="5303520" cy="987552"/>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4" name="Shape 22"/>
          <p:cNvSpPr/>
          <p:nvPr/>
        </p:nvSpPr>
        <p:spPr>
          <a:xfrm>
            <a:off x="228600" y="3749040"/>
            <a:ext cx="73152" cy="987552"/>
          </a:xfrm>
          <a:prstGeom prst="rect">
            <a:avLst/>
          </a:prstGeom>
          <a:solidFill>
            <a:srgbClr val="555555"/>
          </a:solidFill>
          <a:ln w="12700">
            <a:solidFill>
              <a:srgbClr val="555555"/>
            </a:solidFill>
            <a:prstDash val="solid"/>
          </a:ln>
        </p:spPr>
        <p:txBody>
          <a:bodyPr/>
          <a:lstStyle/>
          <a:p>
            <a:endParaRPr lang="fr-FR"/>
          </a:p>
        </p:txBody>
      </p:sp>
      <p:sp>
        <p:nvSpPr>
          <p:cNvPr id="25" name="Text 23"/>
          <p:cNvSpPr/>
          <p:nvPr/>
        </p:nvSpPr>
        <p:spPr>
          <a:xfrm>
            <a:off x="411480" y="3794760"/>
            <a:ext cx="3657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TIER 3 — NATIONAL BENCHMARK</a:t>
            </a:r>
            <a:endParaRPr lang="en-US" sz="1100" dirty="0"/>
          </a:p>
        </p:txBody>
      </p:sp>
      <p:sp>
        <p:nvSpPr>
          <p:cNvPr id="26" name="Shape 24"/>
          <p:cNvSpPr/>
          <p:nvPr/>
        </p:nvSpPr>
        <p:spPr>
          <a:xfrm>
            <a:off x="4114800" y="3803904"/>
            <a:ext cx="1325880" cy="246888"/>
          </a:xfrm>
          <a:prstGeom prst="rect">
            <a:avLst/>
          </a:prstGeom>
          <a:solidFill>
            <a:srgbClr val="2A2A2A"/>
          </a:solidFill>
          <a:ln w="12700">
            <a:solidFill>
              <a:srgbClr val="555555"/>
            </a:solidFill>
            <a:prstDash val="solid"/>
          </a:ln>
        </p:spPr>
        <p:txBody>
          <a:bodyPr/>
          <a:lstStyle/>
          <a:p>
            <a:endParaRPr lang="fr-FR"/>
          </a:p>
        </p:txBody>
      </p:sp>
      <p:sp>
        <p:nvSpPr>
          <p:cNvPr id="27" name="Text 25"/>
          <p:cNvSpPr/>
          <p:nvPr/>
        </p:nvSpPr>
        <p:spPr>
          <a:xfrm>
            <a:off x="4114800" y="3803904"/>
            <a:ext cx="1325880" cy="246888"/>
          </a:xfrm>
          <a:prstGeom prst="rect">
            <a:avLst/>
          </a:prstGeom>
          <a:noFill/>
          <a:ln/>
        </p:spPr>
        <p:txBody>
          <a:bodyPr wrap="square" lIns="0" tIns="0" rIns="0" bIns="0" rtlCol="0" anchor="ctr"/>
          <a:lstStyle/>
          <a:p>
            <a:pPr marL="0" indent="0" algn="ctr">
              <a:buNone/>
            </a:pPr>
            <a:r>
              <a:rPr lang="en-US" sz="750" b="1" dirty="0">
                <a:solidFill>
                  <a:srgbClr val="AAAAAA"/>
                </a:solidFill>
                <a:latin typeface="Arial Black" pitchFamily="34" charset="0"/>
                <a:ea typeface="Arial Black" pitchFamily="34" charset="-122"/>
                <a:cs typeface="Arial Black" pitchFamily="34" charset="-120"/>
              </a:rPr>
              <a:t>161 DELEGATIONS COVERED</a:t>
            </a:r>
            <a:endParaRPr lang="en-US" sz="750" dirty="0"/>
          </a:p>
        </p:txBody>
      </p:sp>
      <p:sp>
        <p:nvSpPr>
          <p:cNvPr id="28" name="Text 26"/>
          <p:cNvSpPr/>
          <p:nvPr/>
        </p:nvSpPr>
        <p:spPr>
          <a:xfrm>
            <a:off x="411480" y="4151376"/>
            <a:ext cx="4937760" cy="512064"/>
          </a:xfrm>
          <a:prstGeom prst="rect">
            <a:avLst/>
          </a:prstGeom>
          <a:noFill/>
          <a:ln/>
        </p:spPr>
        <p:txBody>
          <a:bodyPr wrap="square" lIns="0" tIns="0" rIns="0" bIns="0" rtlCol="0" anchor="ctr"/>
          <a:lstStyle/>
          <a:p>
            <a:pPr marL="0" indent="0" algn="l">
              <a:buNone/>
            </a:pPr>
            <a:r>
              <a:rPr lang="en-US" sz="950" dirty="0">
                <a:solidFill>
                  <a:srgbClr val="AAAAAA"/>
                </a:solidFill>
                <a:latin typeface="Arial" pitchFamily="34" charset="0"/>
                <a:ea typeface="Arial" pitchFamily="34" charset="-122"/>
                <a:cs typeface="Arial" pitchFamily="34" charset="-120"/>
              </a:rPr>
              <a:t>No local or regional data. National mean price anchors the prediction. Alert shown to user.</a:t>
            </a:r>
            <a:endParaRPr lang="en-US" sz="950" dirty="0"/>
          </a:p>
        </p:txBody>
      </p:sp>
      <p:sp>
        <p:nvSpPr>
          <p:cNvPr id="29" name="Shape 27"/>
          <p:cNvSpPr/>
          <p:nvPr/>
        </p:nvSpPr>
        <p:spPr>
          <a:xfrm>
            <a:off x="5897880" y="1371600"/>
            <a:ext cx="3017520" cy="356616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30" name="Shape 28"/>
          <p:cNvSpPr/>
          <p:nvPr/>
        </p:nvSpPr>
        <p:spPr>
          <a:xfrm>
            <a:off x="5897880" y="1371600"/>
            <a:ext cx="3017520" cy="36576"/>
          </a:xfrm>
          <a:prstGeom prst="rect">
            <a:avLst/>
          </a:prstGeom>
          <a:solidFill>
            <a:srgbClr val="CC0000"/>
          </a:solidFill>
          <a:ln w="12700">
            <a:solidFill>
              <a:srgbClr val="CC0000"/>
            </a:solidFill>
            <a:prstDash val="solid"/>
          </a:ln>
        </p:spPr>
        <p:txBody>
          <a:bodyPr/>
          <a:lstStyle/>
          <a:p>
            <a:endParaRPr lang="fr-FR"/>
          </a:p>
        </p:txBody>
      </p:sp>
      <p:sp>
        <p:nvSpPr>
          <p:cNvPr id="31" name="Text 29"/>
          <p:cNvSpPr/>
          <p:nvPr/>
        </p:nvSpPr>
        <p:spPr>
          <a:xfrm>
            <a:off x="5943600" y="1481328"/>
            <a:ext cx="2926080" cy="256032"/>
          </a:xfrm>
          <a:prstGeom prst="rect">
            <a:avLst/>
          </a:prstGeom>
          <a:noFill/>
          <a:ln/>
        </p:spPr>
        <p:txBody>
          <a:bodyPr wrap="square" lIns="0" tIns="0" rIns="0" bIns="0" rtlCol="0" anchor="ctr"/>
          <a:lstStyle/>
          <a:p>
            <a:pPr marL="0" indent="0" algn="ctr">
              <a:buNone/>
            </a:pPr>
            <a:r>
              <a:rPr lang="en-US" sz="900" b="1" kern="0" spc="300" dirty="0">
                <a:solidFill>
                  <a:srgbClr val="CC0000"/>
                </a:solidFill>
                <a:latin typeface="Arial Black" pitchFamily="34" charset="0"/>
                <a:ea typeface="Arial Black" pitchFamily="34" charset="-122"/>
                <a:cs typeface="Arial Black" pitchFamily="34" charset="-120"/>
              </a:rPr>
              <a:t>COVERAGE SPLIT</a:t>
            </a:r>
            <a:endParaRPr lang="en-US" sz="900" dirty="0"/>
          </a:p>
        </p:txBody>
      </p:sp>
      <p:graphicFrame>
        <p:nvGraphicFramePr>
          <p:cNvPr id="32" name="Chart 0"/>
          <p:cNvGraphicFramePr/>
          <p:nvPr/>
        </p:nvGraphicFramePr>
        <p:xfrm>
          <a:off x="5943600" y="1810512"/>
          <a:ext cx="283464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 30"/>
          <p:cNvSpPr/>
          <p:nvPr/>
        </p:nvSpPr>
        <p:spPr>
          <a:xfrm>
            <a:off x="5943600" y="4663440"/>
            <a:ext cx="29260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Black" pitchFamily="34" charset="0"/>
                <a:ea typeface="Arial Black" pitchFamily="34" charset="-122"/>
                <a:cs typeface="Arial Black" pitchFamily="34" charset="-120"/>
              </a:rPr>
              <a:t>264 DELEGATIONS TOTAL</a:t>
            </a:r>
            <a:endParaRPr lang="en-US" sz="900" dirty="0"/>
          </a:p>
        </p:txBody>
      </p:sp>
      <p:sp>
        <p:nvSpPr>
          <p:cNvPr id="34" name="Shape 31"/>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3" name="Shape 1"/>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4" name="Text 2"/>
          <p:cNvSpPr/>
          <p:nvPr/>
        </p:nvSpPr>
        <p:spPr>
          <a:xfrm>
            <a:off x="228600" y="137160"/>
            <a:ext cx="27432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07 / PRODUCT LAYER</a:t>
            </a:r>
            <a:endParaRPr lang="en-US" sz="700" dirty="0"/>
          </a:p>
        </p:txBody>
      </p:sp>
      <p:sp>
        <p:nvSpPr>
          <p:cNvPr id="5" name="Text 3"/>
          <p:cNvSpPr/>
          <p:nvPr/>
        </p:nvSpPr>
        <p:spPr>
          <a:xfrm>
            <a:off x="228600" y="384048"/>
            <a:ext cx="8686800" cy="594360"/>
          </a:xfrm>
          <a:prstGeom prst="rect">
            <a:avLst/>
          </a:prstGeom>
          <a:noFill/>
          <a:ln/>
        </p:spPr>
        <p:txBody>
          <a:bodyPr wrap="square" lIns="0" tIns="0" rIns="0" bIns="0" rtlCol="0" anchor="ctr"/>
          <a:lstStyle/>
          <a:p>
            <a:pPr marL="0" indent="0" algn="l">
              <a:buNone/>
            </a:pPr>
            <a:r>
              <a:rPr lang="en-US" sz="3800" b="1" kern="0" spc="200" dirty="0">
                <a:solidFill>
                  <a:srgbClr val="FFFFFF"/>
                </a:solidFill>
                <a:latin typeface="Arial Black" pitchFamily="34" charset="0"/>
                <a:ea typeface="Arial Black" pitchFamily="34" charset="-122"/>
                <a:cs typeface="Arial Black" pitchFamily="34" charset="-120"/>
              </a:rPr>
              <a:t>API · ATLAS · AI NARRATOR</a:t>
            </a:r>
            <a:endParaRPr lang="en-US" sz="3800" dirty="0"/>
          </a:p>
        </p:txBody>
      </p:sp>
      <p:sp>
        <p:nvSpPr>
          <p:cNvPr id="6" name="Text 4"/>
          <p:cNvSpPr/>
          <p:nvPr/>
        </p:nvSpPr>
        <p:spPr>
          <a:xfrm>
            <a:off x="228600" y="987552"/>
            <a:ext cx="8229600" cy="256032"/>
          </a:xfrm>
          <a:prstGeom prst="rect">
            <a:avLst/>
          </a:prstGeom>
          <a:noFill/>
          <a:ln/>
        </p:spPr>
        <p:txBody>
          <a:bodyPr wrap="square" lIns="0" tIns="0" rIns="0" bIns="0" rtlCol="0" anchor="ctr"/>
          <a:lstStyle/>
          <a:p>
            <a:pPr marL="0" indent="0" algn="l">
              <a:buNone/>
            </a:pPr>
            <a:r>
              <a:rPr lang="en-US" sz="1150" dirty="0">
                <a:solidFill>
                  <a:srgbClr val="AAAAAA"/>
                </a:solidFill>
                <a:latin typeface="Arial" pitchFamily="34" charset="0"/>
                <a:ea typeface="Arial" pitchFamily="34" charset="-122"/>
                <a:cs typeface="Arial" pitchFamily="34" charset="-120"/>
              </a:rPr>
              <a:t>ML served live. Geography made interactive. Insights narrated by AI.</a:t>
            </a:r>
            <a:endParaRPr lang="en-US" sz="1150" dirty="0"/>
          </a:p>
        </p:txBody>
      </p:sp>
      <p:sp>
        <p:nvSpPr>
          <p:cNvPr id="7" name="Shape 5"/>
          <p:cNvSpPr/>
          <p:nvPr/>
        </p:nvSpPr>
        <p:spPr>
          <a:xfrm>
            <a:off x="228600" y="1371600"/>
            <a:ext cx="2816352" cy="356616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8" name="Shape 6"/>
          <p:cNvSpPr/>
          <p:nvPr/>
        </p:nvSpPr>
        <p:spPr>
          <a:xfrm>
            <a:off x="228600" y="1371600"/>
            <a:ext cx="2816352" cy="45720"/>
          </a:xfrm>
          <a:prstGeom prst="rect">
            <a:avLst/>
          </a:prstGeom>
          <a:solidFill>
            <a:srgbClr val="CC0000"/>
          </a:solidFill>
          <a:ln w="12700">
            <a:solidFill>
              <a:srgbClr val="CC0000"/>
            </a:solidFill>
            <a:prstDash val="solid"/>
          </a:ln>
        </p:spPr>
        <p:txBody>
          <a:bodyPr/>
          <a:lstStyle/>
          <a:p>
            <a:endParaRPr lang="fr-FR"/>
          </a:p>
        </p:txBody>
      </p:sp>
      <p:sp>
        <p:nvSpPr>
          <p:cNvPr id="10" name="Text 8"/>
          <p:cNvSpPr/>
          <p:nvPr/>
        </p:nvSpPr>
        <p:spPr>
          <a:xfrm>
            <a:off x="320040" y="1517904"/>
            <a:ext cx="2606040" cy="347472"/>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FASTAPI BACKEND</a:t>
            </a:r>
            <a:endParaRPr lang="en-US" sz="1100" dirty="0"/>
          </a:p>
        </p:txBody>
      </p:sp>
      <p:sp>
        <p:nvSpPr>
          <p:cNvPr id="11" name="Text 9"/>
          <p:cNvSpPr/>
          <p:nvPr/>
        </p:nvSpPr>
        <p:spPr>
          <a:xfrm>
            <a:off x="320040" y="196596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POST /predict → instant price output</a:t>
            </a:r>
            <a:endParaRPr lang="en-US" sz="900" dirty="0"/>
          </a:p>
        </p:txBody>
      </p:sp>
      <p:sp>
        <p:nvSpPr>
          <p:cNvPr id="12" name="Text 10"/>
          <p:cNvSpPr/>
          <p:nvPr/>
        </p:nvSpPr>
        <p:spPr>
          <a:xfrm>
            <a:off x="320040" y="246888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Model artifacts loaded at startup</a:t>
            </a:r>
            <a:endParaRPr lang="en-US" sz="900" dirty="0"/>
          </a:p>
        </p:txBody>
      </p:sp>
      <p:sp>
        <p:nvSpPr>
          <p:cNvPr id="13" name="Text 11"/>
          <p:cNvSpPr/>
          <p:nvPr/>
        </p:nvSpPr>
        <p:spPr>
          <a:xfrm>
            <a:off x="320040" y="297180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Fallback tier logic embedded in API</a:t>
            </a:r>
            <a:endParaRPr lang="en-US" sz="900" dirty="0"/>
          </a:p>
        </p:txBody>
      </p:sp>
      <p:sp>
        <p:nvSpPr>
          <p:cNvPr id="14" name="Text 12"/>
          <p:cNvSpPr/>
          <p:nvPr/>
        </p:nvSpPr>
        <p:spPr>
          <a:xfrm>
            <a:off x="320040" y="347472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Deployed on Render (Docker)</a:t>
            </a:r>
            <a:endParaRPr lang="en-US" sz="900" dirty="0"/>
          </a:p>
        </p:txBody>
      </p:sp>
      <p:sp>
        <p:nvSpPr>
          <p:cNvPr id="15" name="Shape 13"/>
          <p:cNvSpPr/>
          <p:nvPr/>
        </p:nvSpPr>
        <p:spPr>
          <a:xfrm>
            <a:off x="3200400" y="1371600"/>
            <a:ext cx="2816352" cy="356616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16" name="Shape 14"/>
          <p:cNvSpPr/>
          <p:nvPr/>
        </p:nvSpPr>
        <p:spPr>
          <a:xfrm>
            <a:off x="3200400" y="1371600"/>
            <a:ext cx="2816352" cy="45720"/>
          </a:xfrm>
          <a:prstGeom prst="rect">
            <a:avLst/>
          </a:prstGeom>
          <a:solidFill>
            <a:srgbClr val="005577"/>
          </a:solidFill>
          <a:ln w="12700">
            <a:solidFill>
              <a:srgbClr val="005577"/>
            </a:solidFill>
            <a:prstDash val="solid"/>
          </a:ln>
        </p:spPr>
        <p:txBody>
          <a:bodyPr/>
          <a:lstStyle/>
          <a:p>
            <a:endParaRPr lang="fr-FR"/>
          </a:p>
        </p:txBody>
      </p:sp>
      <p:sp>
        <p:nvSpPr>
          <p:cNvPr id="17" name="Text 15"/>
          <p:cNvSpPr/>
          <p:nvPr/>
        </p:nvSpPr>
        <p:spPr>
          <a:xfrm>
            <a:off x="3291840" y="1444752"/>
            <a:ext cx="457200" cy="36576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18" name="Text 16"/>
          <p:cNvSpPr/>
          <p:nvPr/>
        </p:nvSpPr>
        <p:spPr>
          <a:xfrm>
            <a:off x="3291840" y="1517904"/>
            <a:ext cx="2606040" cy="347472"/>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GEOSPATIAL FRONTEND</a:t>
            </a:r>
            <a:endParaRPr lang="en-US" sz="1100" dirty="0"/>
          </a:p>
        </p:txBody>
      </p:sp>
      <p:sp>
        <p:nvSpPr>
          <p:cNvPr id="19" name="Text 17"/>
          <p:cNvSpPr/>
          <p:nvPr/>
        </p:nvSpPr>
        <p:spPr>
          <a:xfrm>
            <a:off x="3291840" y="196596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Interactive delegation selection</a:t>
            </a:r>
            <a:endParaRPr lang="en-US" sz="900" dirty="0"/>
          </a:p>
        </p:txBody>
      </p:sp>
      <p:sp>
        <p:nvSpPr>
          <p:cNvPr id="20" name="Text 18"/>
          <p:cNvSpPr/>
          <p:nvPr/>
        </p:nvSpPr>
        <p:spPr>
          <a:xfrm>
            <a:off x="3291840" y="246888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Coverage tier visualized by color</a:t>
            </a:r>
            <a:endParaRPr lang="en-US" sz="900" dirty="0"/>
          </a:p>
        </p:txBody>
      </p:sp>
      <p:sp>
        <p:nvSpPr>
          <p:cNvPr id="21" name="Text 19"/>
          <p:cNvSpPr/>
          <p:nvPr/>
        </p:nvSpPr>
        <p:spPr>
          <a:xfrm>
            <a:off x="3291840" y="297180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Surface scenario slider (50–2000 m²)</a:t>
            </a:r>
            <a:endParaRPr lang="en-US" sz="900" dirty="0"/>
          </a:p>
        </p:txBody>
      </p:sp>
      <p:sp>
        <p:nvSpPr>
          <p:cNvPr id="22" name="Text 20"/>
          <p:cNvSpPr/>
          <p:nvPr/>
        </p:nvSpPr>
        <p:spPr>
          <a:xfrm>
            <a:off x="3291840" y="347472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Model confidence displayed live</a:t>
            </a:r>
            <a:endParaRPr lang="en-US" sz="900" dirty="0"/>
          </a:p>
        </p:txBody>
      </p:sp>
      <p:sp>
        <p:nvSpPr>
          <p:cNvPr id="23" name="Shape 21"/>
          <p:cNvSpPr/>
          <p:nvPr/>
        </p:nvSpPr>
        <p:spPr>
          <a:xfrm>
            <a:off x="6172200" y="1371600"/>
            <a:ext cx="2816352" cy="3566160"/>
          </a:xfrm>
          <a:prstGeom prst="rect">
            <a:avLst/>
          </a:prstGeom>
          <a:solidFill>
            <a:srgbClr val="111111"/>
          </a:solidFill>
          <a:ln/>
          <a:effectLst>
            <a:outerShdw blurRad="152400" dist="50800" dir="8100000" algn="bl" rotWithShape="0">
              <a:srgbClr val="000000">
                <a:alpha val="60000"/>
              </a:srgbClr>
            </a:outerShdw>
          </a:effectLst>
        </p:spPr>
        <p:txBody>
          <a:bodyPr/>
          <a:lstStyle/>
          <a:p>
            <a:endParaRPr lang="fr-FR"/>
          </a:p>
        </p:txBody>
      </p:sp>
      <p:sp>
        <p:nvSpPr>
          <p:cNvPr id="24" name="Shape 22"/>
          <p:cNvSpPr/>
          <p:nvPr/>
        </p:nvSpPr>
        <p:spPr>
          <a:xfrm>
            <a:off x="6172200" y="1371600"/>
            <a:ext cx="2816352" cy="45720"/>
          </a:xfrm>
          <a:prstGeom prst="rect">
            <a:avLst/>
          </a:prstGeom>
          <a:solidFill>
            <a:srgbClr val="337733"/>
          </a:solidFill>
          <a:ln w="12700">
            <a:solidFill>
              <a:srgbClr val="337733"/>
            </a:solidFill>
            <a:prstDash val="solid"/>
          </a:ln>
        </p:spPr>
        <p:txBody>
          <a:bodyPr/>
          <a:lstStyle/>
          <a:p>
            <a:endParaRPr lang="fr-FR"/>
          </a:p>
        </p:txBody>
      </p:sp>
      <p:sp>
        <p:nvSpPr>
          <p:cNvPr id="26" name="Text 24"/>
          <p:cNvSpPr/>
          <p:nvPr/>
        </p:nvSpPr>
        <p:spPr>
          <a:xfrm>
            <a:off x="6263640" y="1517904"/>
            <a:ext cx="2606040" cy="347472"/>
          </a:xfrm>
          <a:prstGeom prst="rect">
            <a:avLst/>
          </a:prstGeom>
          <a:noFill/>
          <a:ln/>
        </p:spPr>
        <p:txBody>
          <a:bodyPr wrap="square" lIns="0" tIns="0" rIns="0" bIns="0" rtlCol="0" anchor="ctr"/>
          <a:lstStyle/>
          <a:p>
            <a:pPr marL="0" indent="0" algn="l">
              <a:buNone/>
            </a:pPr>
            <a:r>
              <a:rPr lang="en-US" sz="1100" b="1" dirty="0">
                <a:solidFill>
                  <a:srgbClr val="FFFFFF"/>
                </a:solidFill>
                <a:latin typeface="Arial Black" pitchFamily="34" charset="0"/>
                <a:ea typeface="Arial Black" pitchFamily="34" charset="-122"/>
                <a:cs typeface="Arial Black" pitchFamily="34" charset="-120"/>
              </a:rPr>
              <a:t>AI NARRATOR (GROQ)</a:t>
            </a:r>
            <a:endParaRPr lang="en-US" sz="1100" dirty="0"/>
          </a:p>
        </p:txBody>
      </p:sp>
      <p:sp>
        <p:nvSpPr>
          <p:cNvPr id="27" name="Text 25"/>
          <p:cNvSpPr/>
          <p:nvPr/>
        </p:nvSpPr>
        <p:spPr>
          <a:xfrm>
            <a:off x="6263640" y="196596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Structured prediction context → LLM</a:t>
            </a:r>
            <a:endParaRPr lang="en-US" sz="900" dirty="0"/>
          </a:p>
        </p:txBody>
      </p:sp>
      <p:sp>
        <p:nvSpPr>
          <p:cNvPr id="28" name="Text 26"/>
          <p:cNvSpPr/>
          <p:nvPr/>
        </p:nvSpPr>
        <p:spPr>
          <a:xfrm>
            <a:off x="6263640" y="246888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Generates market insight paragraph</a:t>
            </a:r>
            <a:endParaRPr lang="en-US" sz="900" dirty="0"/>
          </a:p>
        </p:txBody>
      </p:sp>
      <p:sp>
        <p:nvSpPr>
          <p:cNvPr id="29" name="Text 27"/>
          <p:cNvSpPr/>
          <p:nvPr/>
        </p:nvSpPr>
        <p:spPr>
          <a:xfrm>
            <a:off x="6263640" y="297180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Static mode (cached) + Live mode</a:t>
            </a:r>
            <a:endParaRPr lang="en-US" sz="900" dirty="0"/>
          </a:p>
        </p:txBody>
      </p:sp>
      <p:sp>
        <p:nvSpPr>
          <p:cNvPr id="30" name="Text 28"/>
          <p:cNvSpPr/>
          <p:nvPr/>
        </p:nvSpPr>
        <p:spPr>
          <a:xfrm>
            <a:off x="6263640" y="3474720"/>
            <a:ext cx="2606040" cy="438912"/>
          </a:xfrm>
          <a:prstGeom prst="rect">
            <a:avLst/>
          </a:prstGeom>
          <a:noFill/>
          <a:ln/>
        </p:spPr>
        <p:txBody>
          <a:bodyPr wrap="square" lIns="0" tIns="0" rIns="0" bIns="0" rtlCol="0" anchor="ctr"/>
          <a:lstStyle/>
          <a:p>
            <a:pPr marL="342900" indent="-342900">
              <a:buSzPct val="100000"/>
              <a:buChar char="•"/>
            </a:pPr>
            <a:r>
              <a:rPr lang="en-US" sz="900" dirty="0">
                <a:solidFill>
                  <a:srgbClr val="AAAAAA"/>
                </a:solidFill>
                <a:latin typeface="Arial" pitchFamily="34" charset="0"/>
                <a:ea typeface="Arial" pitchFamily="34" charset="-122"/>
                <a:cs typeface="Arial" pitchFamily="34" charset="-120"/>
              </a:rPr>
              <a:t>Powered by Groq for low latency</a:t>
            </a:r>
            <a:endParaRPr lang="en-US" sz="900" dirty="0"/>
          </a:p>
        </p:txBody>
      </p:sp>
      <p:sp>
        <p:nvSpPr>
          <p:cNvPr id="31" name="Shape 29"/>
          <p:cNvSpPr/>
          <p:nvPr/>
        </p:nvSpPr>
        <p:spPr>
          <a:xfrm>
            <a:off x="228600" y="4663440"/>
            <a:ext cx="8686800" cy="292608"/>
          </a:xfrm>
          <a:prstGeom prst="rect">
            <a:avLst/>
          </a:prstGeom>
          <a:solidFill>
            <a:srgbClr val="141414"/>
          </a:solidFill>
          <a:ln w="6350">
            <a:solidFill>
              <a:srgbClr val="7A0000"/>
            </a:solidFill>
            <a:prstDash val="solid"/>
          </a:ln>
        </p:spPr>
        <p:txBody>
          <a:bodyPr/>
          <a:lstStyle/>
          <a:p>
            <a:endParaRPr lang="fr-FR"/>
          </a:p>
        </p:txBody>
      </p:sp>
      <p:sp>
        <p:nvSpPr>
          <p:cNvPr id="32" name="Text 30"/>
          <p:cNvSpPr/>
          <p:nvPr/>
        </p:nvSpPr>
        <p:spPr>
          <a:xfrm>
            <a:off x="365760" y="4672584"/>
            <a:ext cx="8412480" cy="256032"/>
          </a:xfrm>
          <a:prstGeom prst="rect">
            <a:avLst/>
          </a:prstGeom>
          <a:noFill/>
          <a:ln/>
        </p:spPr>
        <p:txBody>
          <a:bodyPr wrap="square" lIns="0" tIns="0" rIns="0" bIns="0" rtlCol="0" anchor="ctr"/>
          <a:lstStyle/>
          <a:p>
            <a:pPr marL="0" indent="0" algn="ctr">
              <a:buNone/>
            </a:pPr>
            <a:r>
              <a:rPr lang="en-US" sz="850" b="1" kern="0" spc="200" dirty="0">
                <a:solidFill>
                  <a:srgbClr val="CC0000"/>
                </a:solidFill>
                <a:latin typeface="Arial Black" pitchFamily="34" charset="0"/>
                <a:ea typeface="Arial Black" pitchFamily="34" charset="-122"/>
                <a:cs typeface="Arial Black" pitchFamily="34" charset="-120"/>
              </a:rPr>
              <a:t>DEPLOYED  ·  RENDER (DOCKER)  ·  render.yaml config  ·  Dockerfile  ·  tunisiarealestate-ml.onrender.com</a:t>
            </a:r>
            <a:endParaRPr lang="en-US" sz="850" dirty="0"/>
          </a:p>
        </p:txBody>
      </p:sp>
      <p:sp>
        <p:nvSpPr>
          <p:cNvPr id="33" name="Shape 31"/>
          <p:cNvSpPr/>
          <p:nvPr/>
        </p:nvSpPr>
        <p:spPr>
          <a:xfrm>
            <a:off x="0" y="5074920"/>
            <a:ext cx="9144000" cy="68580"/>
          </a:xfrm>
          <a:prstGeom prst="rect">
            <a:avLst/>
          </a:prstGeom>
          <a:solidFill>
            <a:srgbClr val="7A0000"/>
          </a:solidFill>
          <a:ln w="12700">
            <a:solidFill>
              <a:srgbClr val="7A0000"/>
            </a:solidFill>
            <a:prstDash val="solid"/>
          </a:ln>
        </p:spPr>
        <p:txBody>
          <a:bodyPr/>
          <a:lstStyle/>
          <a:p>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274320"/>
            <a:ext cx="9144000" cy="0"/>
          </a:xfrm>
          <a:prstGeom prst="line">
            <a:avLst/>
          </a:prstGeom>
          <a:noFill/>
          <a:ln w="6350">
            <a:solidFill>
              <a:srgbClr val="141414"/>
            </a:solidFill>
            <a:prstDash val="solid"/>
          </a:ln>
        </p:spPr>
        <p:txBody>
          <a:bodyPr/>
          <a:lstStyle/>
          <a:p>
            <a:endParaRPr lang="fr-FR"/>
          </a:p>
        </p:txBody>
      </p:sp>
      <p:sp>
        <p:nvSpPr>
          <p:cNvPr id="3" name="Shape 1"/>
          <p:cNvSpPr/>
          <p:nvPr/>
        </p:nvSpPr>
        <p:spPr>
          <a:xfrm>
            <a:off x="0" y="475488"/>
            <a:ext cx="9144000" cy="0"/>
          </a:xfrm>
          <a:prstGeom prst="line">
            <a:avLst/>
          </a:prstGeom>
          <a:noFill/>
          <a:ln w="6350">
            <a:solidFill>
              <a:srgbClr val="141414"/>
            </a:solidFill>
            <a:prstDash val="solid"/>
          </a:ln>
        </p:spPr>
        <p:txBody>
          <a:bodyPr/>
          <a:lstStyle/>
          <a:p>
            <a:endParaRPr lang="fr-FR"/>
          </a:p>
        </p:txBody>
      </p:sp>
      <p:sp>
        <p:nvSpPr>
          <p:cNvPr id="4" name="Shape 2"/>
          <p:cNvSpPr/>
          <p:nvPr/>
        </p:nvSpPr>
        <p:spPr>
          <a:xfrm>
            <a:off x="0" y="676656"/>
            <a:ext cx="9144000" cy="0"/>
          </a:xfrm>
          <a:prstGeom prst="line">
            <a:avLst/>
          </a:prstGeom>
          <a:noFill/>
          <a:ln w="6350">
            <a:solidFill>
              <a:srgbClr val="141414"/>
            </a:solidFill>
            <a:prstDash val="solid"/>
          </a:ln>
        </p:spPr>
        <p:txBody>
          <a:bodyPr/>
          <a:lstStyle/>
          <a:p>
            <a:endParaRPr lang="fr-FR"/>
          </a:p>
        </p:txBody>
      </p:sp>
      <p:sp>
        <p:nvSpPr>
          <p:cNvPr id="5" name="Shape 3"/>
          <p:cNvSpPr/>
          <p:nvPr/>
        </p:nvSpPr>
        <p:spPr>
          <a:xfrm>
            <a:off x="0" y="877824"/>
            <a:ext cx="9144000" cy="0"/>
          </a:xfrm>
          <a:prstGeom prst="line">
            <a:avLst/>
          </a:prstGeom>
          <a:noFill/>
          <a:ln w="6350">
            <a:solidFill>
              <a:srgbClr val="141414"/>
            </a:solidFill>
            <a:prstDash val="solid"/>
          </a:ln>
        </p:spPr>
        <p:txBody>
          <a:bodyPr/>
          <a:lstStyle/>
          <a:p>
            <a:endParaRPr lang="fr-FR"/>
          </a:p>
        </p:txBody>
      </p:sp>
      <p:sp>
        <p:nvSpPr>
          <p:cNvPr id="6" name="Shape 4"/>
          <p:cNvSpPr/>
          <p:nvPr/>
        </p:nvSpPr>
        <p:spPr>
          <a:xfrm>
            <a:off x="0" y="1078992"/>
            <a:ext cx="9144000" cy="0"/>
          </a:xfrm>
          <a:prstGeom prst="line">
            <a:avLst/>
          </a:prstGeom>
          <a:noFill/>
          <a:ln w="6350">
            <a:solidFill>
              <a:srgbClr val="141414"/>
            </a:solidFill>
            <a:prstDash val="solid"/>
          </a:ln>
        </p:spPr>
        <p:txBody>
          <a:bodyPr/>
          <a:lstStyle/>
          <a:p>
            <a:endParaRPr lang="fr-FR"/>
          </a:p>
        </p:txBody>
      </p:sp>
      <p:sp>
        <p:nvSpPr>
          <p:cNvPr id="7" name="Shape 5"/>
          <p:cNvSpPr/>
          <p:nvPr/>
        </p:nvSpPr>
        <p:spPr>
          <a:xfrm>
            <a:off x="0" y="1280160"/>
            <a:ext cx="9144000" cy="0"/>
          </a:xfrm>
          <a:prstGeom prst="line">
            <a:avLst/>
          </a:prstGeom>
          <a:noFill/>
          <a:ln w="6350">
            <a:solidFill>
              <a:srgbClr val="141414"/>
            </a:solidFill>
            <a:prstDash val="solid"/>
          </a:ln>
        </p:spPr>
        <p:txBody>
          <a:bodyPr/>
          <a:lstStyle/>
          <a:p>
            <a:endParaRPr lang="fr-FR"/>
          </a:p>
        </p:txBody>
      </p:sp>
      <p:sp>
        <p:nvSpPr>
          <p:cNvPr id="8" name="Shape 6"/>
          <p:cNvSpPr/>
          <p:nvPr/>
        </p:nvSpPr>
        <p:spPr>
          <a:xfrm>
            <a:off x="0" y="1481328"/>
            <a:ext cx="9144000" cy="0"/>
          </a:xfrm>
          <a:prstGeom prst="line">
            <a:avLst/>
          </a:prstGeom>
          <a:noFill/>
          <a:ln w="6350">
            <a:solidFill>
              <a:srgbClr val="141414"/>
            </a:solidFill>
            <a:prstDash val="solid"/>
          </a:ln>
        </p:spPr>
        <p:txBody>
          <a:bodyPr/>
          <a:lstStyle/>
          <a:p>
            <a:endParaRPr lang="fr-FR"/>
          </a:p>
        </p:txBody>
      </p:sp>
      <p:sp>
        <p:nvSpPr>
          <p:cNvPr id="9" name="Shape 7"/>
          <p:cNvSpPr/>
          <p:nvPr/>
        </p:nvSpPr>
        <p:spPr>
          <a:xfrm>
            <a:off x="0" y="1682496"/>
            <a:ext cx="9144000" cy="0"/>
          </a:xfrm>
          <a:prstGeom prst="line">
            <a:avLst/>
          </a:prstGeom>
          <a:noFill/>
          <a:ln w="6350">
            <a:solidFill>
              <a:srgbClr val="141414"/>
            </a:solidFill>
            <a:prstDash val="solid"/>
          </a:ln>
        </p:spPr>
        <p:txBody>
          <a:bodyPr/>
          <a:lstStyle/>
          <a:p>
            <a:endParaRPr lang="fr-FR"/>
          </a:p>
        </p:txBody>
      </p:sp>
      <p:sp>
        <p:nvSpPr>
          <p:cNvPr id="10" name="Shape 8"/>
          <p:cNvSpPr/>
          <p:nvPr/>
        </p:nvSpPr>
        <p:spPr>
          <a:xfrm>
            <a:off x="0" y="1883664"/>
            <a:ext cx="9144000" cy="0"/>
          </a:xfrm>
          <a:prstGeom prst="line">
            <a:avLst/>
          </a:prstGeom>
          <a:noFill/>
          <a:ln w="6350">
            <a:solidFill>
              <a:srgbClr val="141414"/>
            </a:solidFill>
            <a:prstDash val="solid"/>
          </a:ln>
        </p:spPr>
        <p:txBody>
          <a:bodyPr/>
          <a:lstStyle/>
          <a:p>
            <a:endParaRPr lang="fr-FR"/>
          </a:p>
        </p:txBody>
      </p:sp>
      <p:sp>
        <p:nvSpPr>
          <p:cNvPr id="11" name="Shape 9"/>
          <p:cNvSpPr/>
          <p:nvPr/>
        </p:nvSpPr>
        <p:spPr>
          <a:xfrm>
            <a:off x="0" y="2084832"/>
            <a:ext cx="9144000" cy="0"/>
          </a:xfrm>
          <a:prstGeom prst="line">
            <a:avLst/>
          </a:prstGeom>
          <a:noFill/>
          <a:ln w="6350">
            <a:solidFill>
              <a:srgbClr val="141414"/>
            </a:solidFill>
            <a:prstDash val="solid"/>
          </a:ln>
        </p:spPr>
        <p:txBody>
          <a:bodyPr/>
          <a:lstStyle/>
          <a:p>
            <a:endParaRPr lang="fr-FR"/>
          </a:p>
        </p:txBody>
      </p:sp>
      <p:sp>
        <p:nvSpPr>
          <p:cNvPr id="12" name="Shape 10"/>
          <p:cNvSpPr/>
          <p:nvPr/>
        </p:nvSpPr>
        <p:spPr>
          <a:xfrm>
            <a:off x="0" y="2286000"/>
            <a:ext cx="9144000" cy="0"/>
          </a:xfrm>
          <a:prstGeom prst="line">
            <a:avLst/>
          </a:prstGeom>
          <a:noFill/>
          <a:ln w="6350">
            <a:solidFill>
              <a:srgbClr val="141414"/>
            </a:solidFill>
            <a:prstDash val="solid"/>
          </a:ln>
        </p:spPr>
        <p:txBody>
          <a:bodyPr/>
          <a:lstStyle/>
          <a:p>
            <a:endParaRPr lang="fr-FR"/>
          </a:p>
        </p:txBody>
      </p:sp>
      <p:sp>
        <p:nvSpPr>
          <p:cNvPr id="13" name="Shape 11"/>
          <p:cNvSpPr/>
          <p:nvPr/>
        </p:nvSpPr>
        <p:spPr>
          <a:xfrm>
            <a:off x="0" y="2487168"/>
            <a:ext cx="9144000" cy="0"/>
          </a:xfrm>
          <a:prstGeom prst="line">
            <a:avLst/>
          </a:prstGeom>
          <a:noFill/>
          <a:ln w="6350">
            <a:solidFill>
              <a:srgbClr val="141414"/>
            </a:solidFill>
            <a:prstDash val="solid"/>
          </a:ln>
        </p:spPr>
        <p:txBody>
          <a:bodyPr/>
          <a:lstStyle/>
          <a:p>
            <a:endParaRPr lang="fr-FR"/>
          </a:p>
        </p:txBody>
      </p:sp>
      <p:sp>
        <p:nvSpPr>
          <p:cNvPr id="14" name="Shape 12"/>
          <p:cNvSpPr/>
          <p:nvPr/>
        </p:nvSpPr>
        <p:spPr>
          <a:xfrm>
            <a:off x="0" y="2688336"/>
            <a:ext cx="9144000" cy="0"/>
          </a:xfrm>
          <a:prstGeom prst="line">
            <a:avLst/>
          </a:prstGeom>
          <a:noFill/>
          <a:ln w="6350">
            <a:solidFill>
              <a:srgbClr val="141414"/>
            </a:solidFill>
            <a:prstDash val="solid"/>
          </a:ln>
        </p:spPr>
        <p:txBody>
          <a:bodyPr/>
          <a:lstStyle/>
          <a:p>
            <a:endParaRPr lang="fr-FR"/>
          </a:p>
        </p:txBody>
      </p:sp>
      <p:sp>
        <p:nvSpPr>
          <p:cNvPr id="15" name="Shape 13"/>
          <p:cNvSpPr/>
          <p:nvPr/>
        </p:nvSpPr>
        <p:spPr>
          <a:xfrm>
            <a:off x="0" y="2889504"/>
            <a:ext cx="9144000" cy="0"/>
          </a:xfrm>
          <a:prstGeom prst="line">
            <a:avLst/>
          </a:prstGeom>
          <a:noFill/>
          <a:ln w="6350">
            <a:solidFill>
              <a:srgbClr val="141414"/>
            </a:solidFill>
            <a:prstDash val="solid"/>
          </a:ln>
        </p:spPr>
        <p:txBody>
          <a:bodyPr/>
          <a:lstStyle/>
          <a:p>
            <a:endParaRPr lang="fr-FR"/>
          </a:p>
        </p:txBody>
      </p:sp>
      <p:sp>
        <p:nvSpPr>
          <p:cNvPr id="16" name="Shape 14"/>
          <p:cNvSpPr/>
          <p:nvPr/>
        </p:nvSpPr>
        <p:spPr>
          <a:xfrm>
            <a:off x="0" y="3090672"/>
            <a:ext cx="9144000" cy="0"/>
          </a:xfrm>
          <a:prstGeom prst="line">
            <a:avLst/>
          </a:prstGeom>
          <a:noFill/>
          <a:ln w="6350">
            <a:solidFill>
              <a:srgbClr val="141414"/>
            </a:solidFill>
            <a:prstDash val="solid"/>
          </a:ln>
        </p:spPr>
        <p:txBody>
          <a:bodyPr/>
          <a:lstStyle/>
          <a:p>
            <a:endParaRPr lang="fr-FR"/>
          </a:p>
        </p:txBody>
      </p:sp>
      <p:sp>
        <p:nvSpPr>
          <p:cNvPr id="17" name="Shape 15"/>
          <p:cNvSpPr/>
          <p:nvPr/>
        </p:nvSpPr>
        <p:spPr>
          <a:xfrm>
            <a:off x="0" y="3291840"/>
            <a:ext cx="9144000" cy="0"/>
          </a:xfrm>
          <a:prstGeom prst="line">
            <a:avLst/>
          </a:prstGeom>
          <a:noFill/>
          <a:ln w="6350">
            <a:solidFill>
              <a:srgbClr val="141414"/>
            </a:solidFill>
            <a:prstDash val="solid"/>
          </a:ln>
        </p:spPr>
        <p:txBody>
          <a:bodyPr/>
          <a:lstStyle/>
          <a:p>
            <a:endParaRPr lang="fr-FR"/>
          </a:p>
        </p:txBody>
      </p:sp>
      <p:sp>
        <p:nvSpPr>
          <p:cNvPr id="18" name="Shape 16"/>
          <p:cNvSpPr/>
          <p:nvPr/>
        </p:nvSpPr>
        <p:spPr>
          <a:xfrm>
            <a:off x="0" y="3493008"/>
            <a:ext cx="9144000" cy="0"/>
          </a:xfrm>
          <a:prstGeom prst="line">
            <a:avLst/>
          </a:prstGeom>
          <a:noFill/>
          <a:ln w="6350">
            <a:solidFill>
              <a:srgbClr val="141414"/>
            </a:solidFill>
            <a:prstDash val="solid"/>
          </a:ln>
        </p:spPr>
        <p:txBody>
          <a:bodyPr/>
          <a:lstStyle/>
          <a:p>
            <a:endParaRPr lang="fr-FR"/>
          </a:p>
        </p:txBody>
      </p:sp>
      <p:sp>
        <p:nvSpPr>
          <p:cNvPr id="19" name="Shape 17"/>
          <p:cNvSpPr/>
          <p:nvPr/>
        </p:nvSpPr>
        <p:spPr>
          <a:xfrm>
            <a:off x="0" y="3694176"/>
            <a:ext cx="9144000" cy="0"/>
          </a:xfrm>
          <a:prstGeom prst="line">
            <a:avLst/>
          </a:prstGeom>
          <a:noFill/>
          <a:ln w="6350">
            <a:solidFill>
              <a:srgbClr val="141414"/>
            </a:solidFill>
            <a:prstDash val="solid"/>
          </a:ln>
        </p:spPr>
        <p:txBody>
          <a:bodyPr/>
          <a:lstStyle/>
          <a:p>
            <a:endParaRPr lang="fr-FR"/>
          </a:p>
        </p:txBody>
      </p:sp>
      <p:sp>
        <p:nvSpPr>
          <p:cNvPr id="20" name="Shape 18"/>
          <p:cNvSpPr/>
          <p:nvPr/>
        </p:nvSpPr>
        <p:spPr>
          <a:xfrm>
            <a:off x="0" y="3895344"/>
            <a:ext cx="9144000" cy="0"/>
          </a:xfrm>
          <a:prstGeom prst="line">
            <a:avLst/>
          </a:prstGeom>
          <a:noFill/>
          <a:ln w="6350">
            <a:solidFill>
              <a:srgbClr val="141414"/>
            </a:solidFill>
            <a:prstDash val="solid"/>
          </a:ln>
        </p:spPr>
        <p:txBody>
          <a:bodyPr/>
          <a:lstStyle/>
          <a:p>
            <a:endParaRPr lang="fr-FR"/>
          </a:p>
        </p:txBody>
      </p:sp>
      <p:sp>
        <p:nvSpPr>
          <p:cNvPr id="21" name="Shape 19"/>
          <p:cNvSpPr/>
          <p:nvPr/>
        </p:nvSpPr>
        <p:spPr>
          <a:xfrm>
            <a:off x="0" y="4096512"/>
            <a:ext cx="9144000" cy="0"/>
          </a:xfrm>
          <a:prstGeom prst="line">
            <a:avLst/>
          </a:prstGeom>
          <a:noFill/>
          <a:ln w="6350">
            <a:solidFill>
              <a:srgbClr val="141414"/>
            </a:solidFill>
            <a:prstDash val="solid"/>
          </a:ln>
        </p:spPr>
        <p:txBody>
          <a:bodyPr/>
          <a:lstStyle/>
          <a:p>
            <a:endParaRPr lang="fr-FR"/>
          </a:p>
        </p:txBody>
      </p:sp>
      <p:sp>
        <p:nvSpPr>
          <p:cNvPr id="22" name="Shape 20"/>
          <p:cNvSpPr/>
          <p:nvPr/>
        </p:nvSpPr>
        <p:spPr>
          <a:xfrm>
            <a:off x="0" y="4297680"/>
            <a:ext cx="9144000" cy="0"/>
          </a:xfrm>
          <a:prstGeom prst="line">
            <a:avLst/>
          </a:prstGeom>
          <a:noFill/>
          <a:ln w="6350">
            <a:solidFill>
              <a:srgbClr val="141414"/>
            </a:solidFill>
            <a:prstDash val="solid"/>
          </a:ln>
        </p:spPr>
        <p:txBody>
          <a:bodyPr/>
          <a:lstStyle/>
          <a:p>
            <a:endParaRPr lang="fr-FR"/>
          </a:p>
        </p:txBody>
      </p:sp>
      <p:sp>
        <p:nvSpPr>
          <p:cNvPr id="23" name="Shape 21"/>
          <p:cNvSpPr/>
          <p:nvPr/>
        </p:nvSpPr>
        <p:spPr>
          <a:xfrm>
            <a:off x="0" y="4498848"/>
            <a:ext cx="9144000" cy="0"/>
          </a:xfrm>
          <a:prstGeom prst="line">
            <a:avLst/>
          </a:prstGeom>
          <a:noFill/>
          <a:ln w="6350">
            <a:solidFill>
              <a:srgbClr val="141414"/>
            </a:solidFill>
            <a:prstDash val="solid"/>
          </a:ln>
        </p:spPr>
        <p:txBody>
          <a:bodyPr/>
          <a:lstStyle/>
          <a:p>
            <a:endParaRPr lang="fr-FR"/>
          </a:p>
        </p:txBody>
      </p:sp>
      <p:sp>
        <p:nvSpPr>
          <p:cNvPr id="24" name="Shape 22"/>
          <p:cNvSpPr/>
          <p:nvPr/>
        </p:nvSpPr>
        <p:spPr>
          <a:xfrm>
            <a:off x="0" y="4700016"/>
            <a:ext cx="9144000" cy="0"/>
          </a:xfrm>
          <a:prstGeom prst="line">
            <a:avLst/>
          </a:prstGeom>
          <a:noFill/>
          <a:ln w="6350">
            <a:solidFill>
              <a:srgbClr val="141414"/>
            </a:solidFill>
            <a:prstDash val="solid"/>
          </a:ln>
        </p:spPr>
        <p:txBody>
          <a:bodyPr/>
          <a:lstStyle/>
          <a:p>
            <a:endParaRPr lang="fr-FR"/>
          </a:p>
        </p:txBody>
      </p:sp>
      <p:sp>
        <p:nvSpPr>
          <p:cNvPr id="25" name="Shape 23"/>
          <p:cNvSpPr/>
          <p:nvPr/>
        </p:nvSpPr>
        <p:spPr>
          <a:xfrm>
            <a:off x="0" y="4901184"/>
            <a:ext cx="9144000" cy="0"/>
          </a:xfrm>
          <a:prstGeom prst="line">
            <a:avLst/>
          </a:prstGeom>
          <a:noFill/>
          <a:ln w="6350">
            <a:solidFill>
              <a:srgbClr val="141414"/>
            </a:solidFill>
            <a:prstDash val="solid"/>
          </a:ln>
        </p:spPr>
        <p:txBody>
          <a:bodyPr/>
          <a:lstStyle/>
          <a:p>
            <a:endParaRPr lang="fr-FR"/>
          </a:p>
        </p:txBody>
      </p:sp>
      <p:sp>
        <p:nvSpPr>
          <p:cNvPr id="26" name="Shape 24"/>
          <p:cNvSpPr/>
          <p:nvPr/>
        </p:nvSpPr>
        <p:spPr>
          <a:xfrm>
            <a:off x="0" y="5102352"/>
            <a:ext cx="9144000" cy="0"/>
          </a:xfrm>
          <a:prstGeom prst="line">
            <a:avLst/>
          </a:prstGeom>
          <a:noFill/>
          <a:ln w="6350">
            <a:solidFill>
              <a:srgbClr val="141414"/>
            </a:solidFill>
            <a:prstDash val="solid"/>
          </a:ln>
        </p:spPr>
        <p:txBody>
          <a:bodyPr/>
          <a:lstStyle/>
          <a:p>
            <a:endParaRPr lang="fr-FR"/>
          </a:p>
        </p:txBody>
      </p:sp>
      <p:sp>
        <p:nvSpPr>
          <p:cNvPr id="27" name="Shape 25"/>
          <p:cNvSpPr/>
          <p:nvPr/>
        </p:nvSpPr>
        <p:spPr>
          <a:xfrm>
            <a:off x="0" y="0"/>
            <a:ext cx="9144000" cy="54864"/>
          </a:xfrm>
          <a:prstGeom prst="rect">
            <a:avLst/>
          </a:prstGeom>
          <a:solidFill>
            <a:srgbClr val="CC0000"/>
          </a:solidFill>
          <a:ln w="12700">
            <a:solidFill>
              <a:srgbClr val="CC0000"/>
            </a:solidFill>
            <a:prstDash val="solid"/>
          </a:ln>
        </p:spPr>
        <p:txBody>
          <a:bodyPr/>
          <a:lstStyle/>
          <a:p>
            <a:endParaRPr lang="fr-FR"/>
          </a:p>
        </p:txBody>
      </p:sp>
      <p:sp>
        <p:nvSpPr>
          <p:cNvPr id="28" name="Shape 26"/>
          <p:cNvSpPr/>
          <p:nvPr/>
        </p:nvSpPr>
        <p:spPr>
          <a:xfrm>
            <a:off x="0" y="0"/>
            <a:ext cx="54864" cy="5143500"/>
          </a:xfrm>
          <a:prstGeom prst="rect">
            <a:avLst/>
          </a:prstGeom>
          <a:solidFill>
            <a:srgbClr val="CC0000"/>
          </a:solidFill>
          <a:ln w="12700">
            <a:solidFill>
              <a:srgbClr val="CC0000"/>
            </a:solidFill>
            <a:prstDash val="solid"/>
          </a:ln>
        </p:spPr>
        <p:txBody>
          <a:bodyPr/>
          <a:lstStyle/>
          <a:p>
            <a:endParaRPr lang="fr-FR"/>
          </a:p>
        </p:txBody>
      </p:sp>
      <p:sp>
        <p:nvSpPr>
          <p:cNvPr id="29" name="Shape 27"/>
          <p:cNvSpPr/>
          <p:nvPr/>
        </p:nvSpPr>
        <p:spPr>
          <a:xfrm>
            <a:off x="9089136" y="0"/>
            <a:ext cx="54864" cy="5143500"/>
          </a:xfrm>
          <a:prstGeom prst="rect">
            <a:avLst/>
          </a:prstGeom>
          <a:solidFill>
            <a:srgbClr val="7A0000"/>
          </a:solidFill>
          <a:ln w="12700">
            <a:solidFill>
              <a:srgbClr val="7A0000"/>
            </a:solidFill>
            <a:prstDash val="solid"/>
          </a:ln>
        </p:spPr>
        <p:txBody>
          <a:bodyPr/>
          <a:lstStyle/>
          <a:p>
            <a:endParaRPr lang="fr-FR"/>
          </a:p>
        </p:txBody>
      </p:sp>
      <p:sp>
        <p:nvSpPr>
          <p:cNvPr id="30" name="Text 28"/>
          <p:cNvSpPr/>
          <p:nvPr/>
        </p:nvSpPr>
        <p:spPr>
          <a:xfrm>
            <a:off x="228600" y="73152"/>
            <a:ext cx="2743200" cy="201168"/>
          </a:xfrm>
          <a:prstGeom prst="rect">
            <a:avLst/>
          </a:prstGeom>
          <a:noFill/>
          <a:ln/>
        </p:spPr>
        <p:txBody>
          <a:bodyPr wrap="square" lIns="0" tIns="0" rIns="0" bIns="0" rtlCol="0" anchor="ctr"/>
          <a:lstStyle/>
          <a:p>
            <a:pPr marL="0" indent="0" algn="l">
              <a:buNone/>
            </a:pPr>
            <a:r>
              <a:rPr lang="en-US" sz="700" b="1" kern="0" spc="400" dirty="0">
                <a:solidFill>
                  <a:srgbClr val="CC0000"/>
                </a:solidFill>
                <a:latin typeface="Arial Black" pitchFamily="34" charset="0"/>
                <a:ea typeface="Arial Black" pitchFamily="34" charset="-122"/>
                <a:cs typeface="Arial Black" pitchFamily="34" charset="-120"/>
              </a:rPr>
              <a:t>08 / FINAL VALUE</a:t>
            </a:r>
            <a:endParaRPr lang="en-US" sz="700" dirty="0"/>
          </a:p>
        </p:txBody>
      </p:sp>
      <p:sp>
        <p:nvSpPr>
          <p:cNvPr id="31" name="Text 29"/>
          <p:cNvSpPr/>
          <p:nvPr/>
        </p:nvSpPr>
        <p:spPr>
          <a:xfrm>
            <a:off x="228600" y="292608"/>
            <a:ext cx="8686800" cy="548640"/>
          </a:xfrm>
          <a:prstGeom prst="rect">
            <a:avLst/>
          </a:prstGeom>
          <a:noFill/>
          <a:ln/>
        </p:spPr>
        <p:txBody>
          <a:bodyPr wrap="square" lIns="0" tIns="0" rIns="0" bIns="0" rtlCol="0" anchor="ctr"/>
          <a:lstStyle/>
          <a:p>
            <a:pPr marL="0" indent="0" algn="ctr">
              <a:buNone/>
            </a:pPr>
            <a:r>
              <a:rPr lang="en-US" sz="5000" b="1" kern="0" spc="1000" dirty="0">
                <a:solidFill>
                  <a:srgbClr val="FFFFFF"/>
                </a:solidFill>
                <a:latin typeface="Arial Black" pitchFamily="34" charset="0"/>
                <a:ea typeface="Arial Black" pitchFamily="34" charset="-122"/>
                <a:cs typeface="Arial Black" pitchFamily="34" charset="-120"/>
              </a:rPr>
              <a:t>NOT A DEMO.</a:t>
            </a:r>
            <a:endParaRPr lang="en-US" sz="5000" dirty="0"/>
          </a:p>
        </p:txBody>
      </p:sp>
      <p:sp>
        <p:nvSpPr>
          <p:cNvPr id="32" name="Text 30"/>
          <p:cNvSpPr/>
          <p:nvPr/>
        </p:nvSpPr>
        <p:spPr>
          <a:xfrm>
            <a:off x="228600" y="896112"/>
            <a:ext cx="8686800" cy="512064"/>
          </a:xfrm>
          <a:prstGeom prst="rect">
            <a:avLst/>
          </a:prstGeom>
          <a:noFill/>
          <a:ln/>
        </p:spPr>
        <p:txBody>
          <a:bodyPr wrap="square" lIns="0" tIns="0" rIns="0" bIns="0" rtlCol="0" anchor="ctr"/>
          <a:lstStyle/>
          <a:p>
            <a:pPr marL="0" indent="0" algn="ctr">
              <a:buNone/>
            </a:pPr>
            <a:r>
              <a:rPr lang="en-US" sz="3000" b="1" kern="0" spc="500" dirty="0">
                <a:solidFill>
                  <a:srgbClr val="CC0000"/>
                </a:solidFill>
                <a:latin typeface="Arial Black" pitchFamily="34" charset="0"/>
                <a:ea typeface="Arial Black" pitchFamily="34" charset="-122"/>
                <a:cs typeface="Arial Black" pitchFamily="34" charset="-120"/>
              </a:rPr>
              <a:t>A PRODUCTION ML SYSTEM.</a:t>
            </a:r>
            <a:endParaRPr lang="en-US" sz="3000" dirty="0"/>
          </a:p>
        </p:txBody>
      </p:sp>
      <p:sp>
        <p:nvSpPr>
          <p:cNvPr id="33" name="Shape 31"/>
          <p:cNvSpPr/>
          <p:nvPr/>
        </p:nvSpPr>
        <p:spPr>
          <a:xfrm>
            <a:off x="1371600" y="1572768"/>
            <a:ext cx="6400800" cy="0"/>
          </a:xfrm>
          <a:prstGeom prst="line">
            <a:avLst/>
          </a:prstGeom>
          <a:noFill/>
          <a:ln w="10160">
            <a:solidFill>
              <a:srgbClr val="CC0000"/>
            </a:solidFill>
            <a:prstDash val="solid"/>
          </a:ln>
        </p:spPr>
        <p:txBody>
          <a:bodyPr/>
          <a:lstStyle/>
          <a:p>
            <a:endParaRPr lang="fr-FR"/>
          </a:p>
        </p:txBody>
      </p:sp>
      <p:sp>
        <p:nvSpPr>
          <p:cNvPr id="34" name="Text 32"/>
          <p:cNvSpPr/>
          <p:nvPr/>
        </p:nvSpPr>
        <p:spPr>
          <a:xfrm>
            <a:off x="320040" y="1719072"/>
            <a:ext cx="2011680" cy="502920"/>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R² 0.928</a:t>
            </a:r>
            <a:endParaRPr lang="en-US" sz="2200" dirty="0"/>
          </a:p>
        </p:txBody>
      </p:sp>
      <p:sp>
        <p:nvSpPr>
          <p:cNvPr id="35" name="Text 33"/>
          <p:cNvSpPr/>
          <p:nvPr/>
        </p:nvSpPr>
        <p:spPr>
          <a:xfrm>
            <a:off x="320040" y="2249424"/>
            <a:ext cx="2011680" cy="219456"/>
          </a:xfrm>
          <a:prstGeom prst="rect">
            <a:avLst/>
          </a:prstGeom>
          <a:noFill/>
          <a:ln/>
        </p:spPr>
        <p:txBody>
          <a:bodyPr wrap="square" lIns="0" tIns="0" rIns="0" bIns="0" rtlCol="0" anchor="ctr"/>
          <a:lstStyle/>
          <a:p>
            <a:pPr marL="0" indent="0" algn="ctr">
              <a:buNone/>
            </a:pPr>
            <a:r>
              <a:rPr lang="en-US" sz="800" kern="0" spc="200" dirty="0">
                <a:solidFill>
                  <a:srgbClr val="AAAAAA"/>
                </a:solidFill>
                <a:latin typeface="Arial" pitchFamily="34" charset="0"/>
                <a:ea typeface="Arial" pitchFamily="34" charset="-122"/>
                <a:cs typeface="Arial" pitchFamily="34" charset="-120"/>
              </a:rPr>
              <a:t>Cross-Validation</a:t>
            </a:r>
            <a:endParaRPr lang="en-US" sz="800" dirty="0"/>
          </a:p>
        </p:txBody>
      </p:sp>
      <p:sp>
        <p:nvSpPr>
          <p:cNvPr id="36" name="Text 34"/>
          <p:cNvSpPr/>
          <p:nvPr/>
        </p:nvSpPr>
        <p:spPr>
          <a:xfrm>
            <a:off x="2468880" y="1719072"/>
            <a:ext cx="2011680" cy="502920"/>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264</a:t>
            </a:r>
            <a:endParaRPr lang="en-US" sz="2200" dirty="0"/>
          </a:p>
        </p:txBody>
      </p:sp>
      <p:sp>
        <p:nvSpPr>
          <p:cNvPr id="37" name="Text 35"/>
          <p:cNvSpPr/>
          <p:nvPr/>
        </p:nvSpPr>
        <p:spPr>
          <a:xfrm>
            <a:off x="2468880" y="2249424"/>
            <a:ext cx="2011680" cy="219456"/>
          </a:xfrm>
          <a:prstGeom prst="rect">
            <a:avLst/>
          </a:prstGeom>
          <a:noFill/>
          <a:ln/>
        </p:spPr>
        <p:txBody>
          <a:bodyPr wrap="square" lIns="0" tIns="0" rIns="0" bIns="0" rtlCol="0" anchor="ctr"/>
          <a:lstStyle/>
          <a:p>
            <a:pPr marL="0" indent="0" algn="ctr">
              <a:buNone/>
            </a:pPr>
            <a:r>
              <a:rPr lang="en-US" sz="800" kern="0" spc="200" dirty="0">
                <a:solidFill>
                  <a:srgbClr val="AAAAAA"/>
                </a:solidFill>
                <a:latin typeface="Arial" pitchFamily="34" charset="0"/>
                <a:ea typeface="Arial" pitchFamily="34" charset="-122"/>
                <a:cs typeface="Arial" pitchFamily="34" charset="-120"/>
              </a:rPr>
              <a:t>Delegations</a:t>
            </a:r>
            <a:endParaRPr lang="en-US" sz="800" dirty="0"/>
          </a:p>
        </p:txBody>
      </p:sp>
      <p:sp>
        <p:nvSpPr>
          <p:cNvPr id="38" name="Text 36"/>
          <p:cNvSpPr/>
          <p:nvPr/>
        </p:nvSpPr>
        <p:spPr>
          <a:xfrm>
            <a:off x="4617720" y="1719072"/>
            <a:ext cx="2011680" cy="502920"/>
          </a:xfrm>
          <a:prstGeom prst="rect">
            <a:avLst/>
          </a:prstGeom>
          <a:noFill/>
          <a:ln/>
        </p:spPr>
        <p:txBody>
          <a:bodyPr wrap="square" lIns="0" tIns="0" rIns="0" bIns="0" rtlCol="0" anchor="ctr"/>
          <a:lstStyle/>
          <a:p>
            <a:pPr marL="0" indent="0" algn="ctr">
              <a:buNone/>
            </a:pPr>
            <a:r>
              <a:rPr lang="en-US" sz="1800" b="1" dirty="0">
                <a:solidFill>
                  <a:srgbClr val="FF1A1A"/>
                </a:solidFill>
                <a:latin typeface="Arial Black" pitchFamily="34" charset="0"/>
                <a:ea typeface="Arial Black" pitchFamily="34" charset="-122"/>
                <a:cs typeface="Arial Black" pitchFamily="34" charset="-120"/>
              </a:rPr>
              <a:t>103 / 161</a:t>
            </a:r>
            <a:endParaRPr lang="en-US" sz="1800" dirty="0"/>
          </a:p>
        </p:txBody>
      </p:sp>
      <p:sp>
        <p:nvSpPr>
          <p:cNvPr id="39" name="Text 37"/>
          <p:cNvSpPr/>
          <p:nvPr/>
        </p:nvSpPr>
        <p:spPr>
          <a:xfrm>
            <a:off x="4617720" y="2249424"/>
            <a:ext cx="2011680" cy="219456"/>
          </a:xfrm>
          <a:prstGeom prst="rect">
            <a:avLst/>
          </a:prstGeom>
          <a:noFill/>
          <a:ln/>
        </p:spPr>
        <p:txBody>
          <a:bodyPr wrap="square" lIns="0" tIns="0" rIns="0" bIns="0" rtlCol="0" anchor="ctr"/>
          <a:lstStyle/>
          <a:p>
            <a:pPr marL="0" indent="0" algn="ctr">
              <a:buNone/>
            </a:pPr>
            <a:r>
              <a:rPr lang="en-US" sz="800" kern="0" spc="200" dirty="0">
                <a:solidFill>
                  <a:srgbClr val="AAAAAA"/>
                </a:solidFill>
                <a:latin typeface="Arial" pitchFamily="34" charset="0"/>
                <a:ea typeface="Arial" pitchFamily="34" charset="-122"/>
                <a:cs typeface="Arial" pitchFamily="34" charset="-120"/>
              </a:rPr>
              <a:t>Direct / Fallback</a:t>
            </a:r>
            <a:endParaRPr lang="en-US" sz="800" dirty="0"/>
          </a:p>
        </p:txBody>
      </p:sp>
      <p:sp>
        <p:nvSpPr>
          <p:cNvPr id="40" name="Text 38"/>
          <p:cNvSpPr/>
          <p:nvPr/>
        </p:nvSpPr>
        <p:spPr>
          <a:xfrm>
            <a:off x="6766560" y="1719072"/>
            <a:ext cx="2011680" cy="502920"/>
          </a:xfrm>
          <a:prstGeom prst="rect">
            <a:avLst/>
          </a:prstGeom>
          <a:noFill/>
          <a:ln/>
        </p:spPr>
        <p:txBody>
          <a:bodyPr wrap="square" lIns="0" tIns="0" rIns="0" bIns="0" rtlCol="0" anchor="ctr"/>
          <a:lstStyle/>
          <a:p>
            <a:pPr marL="0" indent="0" algn="ctr">
              <a:buNone/>
            </a:pPr>
            <a:r>
              <a:rPr lang="en-US" sz="2200" b="1" dirty="0">
                <a:solidFill>
                  <a:srgbClr val="FF1A1A"/>
                </a:solidFill>
                <a:latin typeface="Arial Black" pitchFamily="34" charset="0"/>
                <a:ea typeface="Arial Black" pitchFamily="34" charset="-122"/>
                <a:cs typeface="Arial Black" pitchFamily="34" charset="-120"/>
              </a:rPr>
              <a:t>8 STAGES</a:t>
            </a:r>
            <a:endParaRPr lang="en-US" sz="2200" dirty="0"/>
          </a:p>
        </p:txBody>
      </p:sp>
      <p:sp>
        <p:nvSpPr>
          <p:cNvPr id="41" name="Text 39"/>
          <p:cNvSpPr/>
          <p:nvPr/>
        </p:nvSpPr>
        <p:spPr>
          <a:xfrm>
            <a:off x="6766560" y="2249424"/>
            <a:ext cx="2011680" cy="219456"/>
          </a:xfrm>
          <a:prstGeom prst="rect">
            <a:avLst/>
          </a:prstGeom>
          <a:noFill/>
          <a:ln/>
        </p:spPr>
        <p:txBody>
          <a:bodyPr wrap="square" lIns="0" tIns="0" rIns="0" bIns="0" rtlCol="0" anchor="ctr"/>
          <a:lstStyle/>
          <a:p>
            <a:pPr marL="0" indent="0" algn="ctr">
              <a:buNone/>
            </a:pPr>
            <a:r>
              <a:rPr lang="en-US" sz="800" kern="0" spc="200" dirty="0">
                <a:solidFill>
                  <a:srgbClr val="AAAAAA"/>
                </a:solidFill>
                <a:latin typeface="Arial" pitchFamily="34" charset="0"/>
                <a:ea typeface="Arial" pitchFamily="34" charset="-122"/>
                <a:cs typeface="Arial" pitchFamily="34" charset="-120"/>
              </a:rPr>
              <a:t>Full Pipeline</a:t>
            </a:r>
            <a:endParaRPr lang="en-US" sz="800" dirty="0"/>
          </a:p>
        </p:txBody>
      </p:sp>
      <p:sp>
        <p:nvSpPr>
          <p:cNvPr id="42" name="Shape 40"/>
          <p:cNvSpPr/>
          <p:nvPr/>
        </p:nvSpPr>
        <p:spPr>
          <a:xfrm>
            <a:off x="1371600" y="2578608"/>
            <a:ext cx="6400800" cy="0"/>
          </a:xfrm>
          <a:prstGeom prst="line">
            <a:avLst/>
          </a:prstGeom>
          <a:noFill/>
          <a:ln w="6350">
            <a:solidFill>
              <a:srgbClr val="7A0000"/>
            </a:solidFill>
            <a:prstDash val="solid"/>
          </a:ln>
        </p:spPr>
        <p:txBody>
          <a:bodyPr/>
          <a:lstStyle/>
          <a:p>
            <a:endParaRPr lang="fr-FR"/>
          </a:p>
        </p:txBody>
      </p:sp>
      <p:sp>
        <p:nvSpPr>
          <p:cNvPr id="43" name="Text 41"/>
          <p:cNvSpPr/>
          <p:nvPr/>
        </p:nvSpPr>
        <p:spPr>
          <a:xfrm>
            <a:off x="457200" y="2815047"/>
            <a:ext cx="8229600" cy="731520"/>
          </a:xfrm>
          <a:prstGeom prst="rect">
            <a:avLst/>
          </a:prstGeom>
          <a:noFill/>
          <a:ln/>
        </p:spPr>
        <p:txBody>
          <a:bodyPr wrap="square" lIns="0" tIns="0" rIns="0" bIns="0" rtlCol="0" anchor="ctr"/>
          <a:lstStyle/>
          <a:p>
            <a:pPr marL="0" indent="0" algn="ctr">
              <a:buNone/>
            </a:pPr>
            <a:r>
              <a:rPr lang="en-US" sz="1250" dirty="0">
                <a:solidFill>
                  <a:srgbClr val="AAAAAA"/>
                </a:solidFill>
                <a:latin typeface="Arial" pitchFamily="34" charset="0"/>
                <a:ea typeface="Arial" pitchFamily="34" charset="-122"/>
                <a:cs typeface="Arial" pitchFamily="34" charset="-120"/>
              </a:rPr>
              <a:t>Geographic intelligence + hierarchical fallback + AI narration</a:t>
            </a:r>
            <a:endParaRPr lang="en-US" sz="1250" dirty="0"/>
          </a:p>
          <a:p>
            <a:pPr marL="0" indent="0" algn="ctr">
              <a:buNone/>
            </a:pPr>
            <a:r>
              <a:rPr lang="en-US" sz="1250" dirty="0">
                <a:solidFill>
                  <a:srgbClr val="AAAAAA"/>
                </a:solidFill>
                <a:latin typeface="Arial" pitchFamily="34" charset="0"/>
                <a:ea typeface="Arial" pitchFamily="34" charset="-122"/>
                <a:cs typeface="Arial" pitchFamily="34" charset="-120"/>
              </a:rPr>
              <a:t>— real estate intelligence, built for Tunisia, delivered at scale.</a:t>
            </a:r>
            <a:endParaRPr lang="en-US" sz="1250" dirty="0"/>
          </a:p>
        </p:txBody>
      </p:sp>
      <p:sp>
        <p:nvSpPr>
          <p:cNvPr id="44" name="Shape 42"/>
          <p:cNvSpPr/>
          <p:nvPr/>
        </p:nvSpPr>
        <p:spPr>
          <a:xfrm>
            <a:off x="201168"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45" name="Text 43"/>
          <p:cNvSpPr/>
          <p:nvPr/>
        </p:nvSpPr>
        <p:spPr>
          <a:xfrm>
            <a:off x="201168"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RAW DATA</a:t>
            </a:r>
            <a:endParaRPr lang="en-US" sz="700" dirty="0"/>
          </a:p>
        </p:txBody>
      </p:sp>
      <p:sp>
        <p:nvSpPr>
          <p:cNvPr id="46" name="Shape 44"/>
          <p:cNvSpPr/>
          <p:nvPr/>
        </p:nvSpPr>
        <p:spPr>
          <a:xfrm>
            <a:off x="1207008" y="3799332"/>
            <a:ext cx="109728" cy="0"/>
          </a:xfrm>
          <a:prstGeom prst="line">
            <a:avLst/>
          </a:prstGeom>
          <a:noFill/>
          <a:ln w="10160">
            <a:solidFill>
              <a:srgbClr val="7A0000"/>
            </a:solidFill>
            <a:prstDash val="solid"/>
          </a:ln>
        </p:spPr>
        <p:txBody>
          <a:bodyPr/>
          <a:lstStyle/>
          <a:p>
            <a:endParaRPr lang="fr-FR"/>
          </a:p>
        </p:txBody>
      </p:sp>
      <p:sp>
        <p:nvSpPr>
          <p:cNvPr id="47" name="Shape 45"/>
          <p:cNvSpPr/>
          <p:nvPr/>
        </p:nvSpPr>
        <p:spPr>
          <a:xfrm>
            <a:off x="1316736"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48" name="Text 46"/>
          <p:cNvSpPr/>
          <p:nvPr/>
        </p:nvSpPr>
        <p:spPr>
          <a:xfrm>
            <a:off x="1316736"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PIPELINE</a:t>
            </a:r>
            <a:endParaRPr lang="en-US" sz="700" dirty="0"/>
          </a:p>
        </p:txBody>
      </p:sp>
      <p:sp>
        <p:nvSpPr>
          <p:cNvPr id="49" name="Shape 47"/>
          <p:cNvSpPr/>
          <p:nvPr/>
        </p:nvSpPr>
        <p:spPr>
          <a:xfrm>
            <a:off x="2322576" y="3799332"/>
            <a:ext cx="109728" cy="0"/>
          </a:xfrm>
          <a:prstGeom prst="line">
            <a:avLst/>
          </a:prstGeom>
          <a:noFill/>
          <a:ln w="10160">
            <a:solidFill>
              <a:srgbClr val="7A0000"/>
            </a:solidFill>
            <a:prstDash val="solid"/>
          </a:ln>
        </p:spPr>
        <p:txBody>
          <a:bodyPr/>
          <a:lstStyle/>
          <a:p>
            <a:endParaRPr lang="fr-FR"/>
          </a:p>
        </p:txBody>
      </p:sp>
      <p:sp>
        <p:nvSpPr>
          <p:cNvPr id="50" name="Shape 48"/>
          <p:cNvSpPr/>
          <p:nvPr/>
        </p:nvSpPr>
        <p:spPr>
          <a:xfrm>
            <a:off x="2432304"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51" name="Text 49"/>
          <p:cNvSpPr/>
          <p:nvPr/>
        </p:nvSpPr>
        <p:spPr>
          <a:xfrm>
            <a:off x="2432304"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FEATURES</a:t>
            </a:r>
            <a:endParaRPr lang="en-US" sz="700" dirty="0"/>
          </a:p>
        </p:txBody>
      </p:sp>
      <p:sp>
        <p:nvSpPr>
          <p:cNvPr id="52" name="Shape 50"/>
          <p:cNvSpPr/>
          <p:nvPr/>
        </p:nvSpPr>
        <p:spPr>
          <a:xfrm>
            <a:off x="3438144" y="3799332"/>
            <a:ext cx="109728" cy="0"/>
          </a:xfrm>
          <a:prstGeom prst="line">
            <a:avLst/>
          </a:prstGeom>
          <a:noFill/>
          <a:ln w="10160">
            <a:solidFill>
              <a:srgbClr val="7A0000"/>
            </a:solidFill>
            <a:prstDash val="solid"/>
          </a:ln>
        </p:spPr>
        <p:txBody>
          <a:bodyPr/>
          <a:lstStyle/>
          <a:p>
            <a:endParaRPr lang="fr-FR"/>
          </a:p>
        </p:txBody>
      </p:sp>
      <p:sp>
        <p:nvSpPr>
          <p:cNvPr id="53" name="Shape 51"/>
          <p:cNvSpPr/>
          <p:nvPr/>
        </p:nvSpPr>
        <p:spPr>
          <a:xfrm>
            <a:off x="3547872" y="3547872"/>
            <a:ext cx="1005840" cy="502920"/>
          </a:xfrm>
          <a:prstGeom prst="rect">
            <a:avLst/>
          </a:prstGeom>
          <a:solidFill>
            <a:srgbClr val="7A0000"/>
          </a:solidFill>
          <a:ln w="12700">
            <a:solidFill>
              <a:srgbClr val="CC0000"/>
            </a:solidFill>
            <a:prstDash val="solid"/>
          </a:ln>
        </p:spPr>
        <p:txBody>
          <a:bodyPr/>
          <a:lstStyle/>
          <a:p>
            <a:endParaRPr lang="fr-FR"/>
          </a:p>
        </p:txBody>
      </p:sp>
      <p:sp>
        <p:nvSpPr>
          <p:cNvPr id="54" name="Text 52"/>
          <p:cNvSpPr/>
          <p:nvPr/>
        </p:nvSpPr>
        <p:spPr>
          <a:xfrm>
            <a:off x="3547872" y="3547872"/>
            <a:ext cx="1005840" cy="502920"/>
          </a:xfrm>
          <a:prstGeom prst="rect">
            <a:avLst/>
          </a:prstGeom>
          <a:noFill/>
          <a:ln/>
        </p:spPr>
        <p:txBody>
          <a:bodyPr wrap="square" lIns="0" tIns="0" rIns="0" bIns="0" rtlCol="0" anchor="ctr"/>
          <a:lstStyle/>
          <a:p>
            <a:pPr marL="0" indent="0" algn="ctr">
              <a:buNone/>
            </a:pPr>
            <a:r>
              <a:rPr lang="en-US" sz="700" b="1" dirty="0">
                <a:solidFill>
                  <a:srgbClr val="FFFFFF"/>
                </a:solidFill>
                <a:latin typeface="Arial Black" pitchFamily="34" charset="0"/>
                <a:ea typeface="Arial Black" pitchFamily="34" charset="-122"/>
                <a:cs typeface="Arial Black" pitchFamily="34" charset="-120"/>
              </a:rPr>
              <a:t>MODEL</a:t>
            </a:r>
            <a:endParaRPr lang="en-US" sz="700" dirty="0"/>
          </a:p>
        </p:txBody>
      </p:sp>
      <p:sp>
        <p:nvSpPr>
          <p:cNvPr id="55" name="Shape 53"/>
          <p:cNvSpPr/>
          <p:nvPr/>
        </p:nvSpPr>
        <p:spPr>
          <a:xfrm>
            <a:off x="4553712" y="3799332"/>
            <a:ext cx="109728" cy="0"/>
          </a:xfrm>
          <a:prstGeom prst="line">
            <a:avLst/>
          </a:prstGeom>
          <a:noFill/>
          <a:ln w="10160">
            <a:solidFill>
              <a:srgbClr val="7A0000"/>
            </a:solidFill>
            <a:prstDash val="solid"/>
          </a:ln>
        </p:spPr>
        <p:txBody>
          <a:bodyPr/>
          <a:lstStyle/>
          <a:p>
            <a:endParaRPr lang="fr-FR"/>
          </a:p>
        </p:txBody>
      </p:sp>
      <p:sp>
        <p:nvSpPr>
          <p:cNvPr id="56" name="Shape 54"/>
          <p:cNvSpPr/>
          <p:nvPr/>
        </p:nvSpPr>
        <p:spPr>
          <a:xfrm>
            <a:off x="4663440"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57" name="Text 55"/>
          <p:cNvSpPr/>
          <p:nvPr/>
        </p:nvSpPr>
        <p:spPr>
          <a:xfrm>
            <a:off x="4663440"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API</a:t>
            </a:r>
            <a:endParaRPr lang="en-US" sz="700" dirty="0"/>
          </a:p>
        </p:txBody>
      </p:sp>
      <p:sp>
        <p:nvSpPr>
          <p:cNvPr id="58" name="Shape 56"/>
          <p:cNvSpPr/>
          <p:nvPr/>
        </p:nvSpPr>
        <p:spPr>
          <a:xfrm>
            <a:off x="5669280" y="3799332"/>
            <a:ext cx="109728" cy="0"/>
          </a:xfrm>
          <a:prstGeom prst="line">
            <a:avLst/>
          </a:prstGeom>
          <a:noFill/>
          <a:ln w="10160">
            <a:solidFill>
              <a:srgbClr val="7A0000"/>
            </a:solidFill>
            <a:prstDash val="solid"/>
          </a:ln>
        </p:spPr>
        <p:txBody>
          <a:bodyPr/>
          <a:lstStyle/>
          <a:p>
            <a:endParaRPr lang="fr-FR"/>
          </a:p>
        </p:txBody>
      </p:sp>
      <p:sp>
        <p:nvSpPr>
          <p:cNvPr id="59" name="Shape 57"/>
          <p:cNvSpPr/>
          <p:nvPr/>
        </p:nvSpPr>
        <p:spPr>
          <a:xfrm>
            <a:off x="5779008"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60" name="Text 58"/>
          <p:cNvSpPr/>
          <p:nvPr/>
        </p:nvSpPr>
        <p:spPr>
          <a:xfrm>
            <a:off x="5779008"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ATLAS</a:t>
            </a:r>
            <a:endParaRPr lang="en-US" sz="700" dirty="0"/>
          </a:p>
        </p:txBody>
      </p:sp>
      <p:sp>
        <p:nvSpPr>
          <p:cNvPr id="61" name="Shape 59"/>
          <p:cNvSpPr/>
          <p:nvPr/>
        </p:nvSpPr>
        <p:spPr>
          <a:xfrm>
            <a:off x="6784848" y="3799332"/>
            <a:ext cx="109728" cy="0"/>
          </a:xfrm>
          <a:prstGeom prst="line">
            <a:avLst/>
          </a:prstGeom>
          <a:noFill/>
          <a:ln w="10160">
            <a:solidFill>
              <a:srgbClr val="7A0000"/>
            </a:solidFill>
            <a:prstDash val="solid"/>
          </a:ln>
        </p:spPr>
        <p:txBody>
          <a:bodyPr/>
          <a:lstStyle/>
          <a:p>
            <a:endParaRPr lang="fr-FR"/>
          </a:p>
        </p:txBody>
      </p:sp>
      <p:sp>
        <p:nvSpPr>
          <p:cNvPr id="62" name="Shape 60"/>
          <p:cNvSpPr/>
          <p:nvPr/>
        </p:nvSpPr>
        <p:spPr>
          <a:xfrm>
            <a:off x="6894576"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63" name="Text 61"/>
          <p:cNvSpPr/>
          <p:nvPr/>
        </p:nvSpPr>
        <p:spPr>
          <a:xfrm>
            <a:off x="6894576"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AI NARRATOR</a:t>
            </a:r>
            <a:endParaRPr lang="en-US" sz="700" dirty="0"/>
          </a:p>
        </p:txBody>
      </p:sp>
      <p:sp>
        <p:nvSpPr>
          <p:cNvPr id="64" name="Shape 62"/>
          <p:cNvSpPr/>
          <p:nvPr/>
        </p:nvSpPr>
        <p:spPr>
          <a:xfrm>
            <a:off x="7900416" y="3799332"/>
            <a:ext cx="109728" cy="0"/>
          </a:xfrm>
          <a:prstGeom prst="line">
            <a:avLst/>
          </a:prstGeom>
          <a:noFill/>
          <a:ln w="10160">
            <a:solidFill>
              <a:srgbClr val="7A0000"/>
            </a:solidFill>
            <a:prstDash val="solid"/>
          </a:ln>
        </p:spPr>
        <p:txBody>
          <a:bodyPr/>
          <a:lstStyle/>
          <a:p>
            <a:endParaRPr lang="fr-FR"/>
          </a:p>
        </p:txBody>
      </p:sp>
      <p:sp>
        <p:nvSpPr>
          <p:cNvPr id="65" name="Shape 63"/>
          <p:cNvSpPr/>
          <p:nvPr/>
        </p:nvSpPr>
        <p:spPr>
          <a:xfrm>
            <a:off x="8010144" y="3547872"/>
            <a:ext cx="1005840" cy="502920"/>
          </a:xfrm>
          <a:prstGeom prst="rect">
            <a:avLst/>
          </a:prstGeom>
          <a:solidFill>
            <a:srgbClr val="141414"/>
          </a:solidFill>
          <a:ln w="5080">
            <a:solidFill>
              <a:srgbClr val="555555"/>
            </a:solidFill>
            <a:prstDash val="solid"/>
          </a:ln>
        </p:spPr>
        <p:txBody>
          <a:bodyPr/>
          <a:lstStyle/>
          <a:p>
            <a:endParaRPr lang="fr-FR"/>
          </a:p>
        </p:txBody>
      </p:sp>
      <p:sp>
        <p:nvSpPr>
          <p:cNvPr id="66" name="Text 64"/>
          <p:cNvSpPr/>
          <p:nvPr/>
        </p:nvSpPr>
        <p:spPr>
          <a:xfrm>
            <a:off x="8010144" y="3547872"/>
            <a:ext cx="1005840" cy="502920"/>
          </a:xfrm>
          <a:prstGeom prst="rect">
            <a:avLst/>
          </a:prstGeom>
          <a:noFill/>
          <a:ln/>
        </p:spPr>
        <p:txBody>
          <a:bodyPr wrap="square" lIns="0" tIns="0" rIns="0" bIns="0" rtlCol="0" anchor="ctr"/>
          <a:lstStyle/>
          <a:p>
            <a:pPr marL="0" indent="0" algn="ctr">
              <a:buNone/>
            </a:pPr>
            <a:r>
              <a:rPr lang="en-US" sz="700" b="1" dirty="0">
                <a:solidFill>
                  <a:srgbClr val="555555"/>
                </a:solidFill>
                <a:latin typeface="Arial Black" pitchFamily="34" charset="0"/>
                <a:ea typeface="Arial Black" pitchFamily="34" charset="-122"/>
                <a:cs typeface="Arial Black" pitchFamily="34" charset="-120"/>
              </a:rPr>
              <a:t>RENDER</a:t>
            </a:r>
            <a:endParaRPr lang="en-US" sz="700" dirty="0"/>
          </a:p>
        </p:txBody>
      </p:sp>
      <p:sp>
        <p:nvSpPr>
          <p:cNvPr id="67" name="Shape 65"/>
          <p:cNvSpPr/>
          <p:nvPr/>
        </p:nvSpPr>
        <p:spPr>
          <a:xfrm>
            <a:off x="0" y="4572000"/>
            <a:ext cx="9144000" cy="457200"/>
          </a:xfrm>
          <a:prstGeom prst="rect">
            <a:avLst/>
          </a:prstGeom>
          <a:solidFill>
            <a:srgbClr val="0D0D0D"/>
          </a:solidFill>
          <a:ln w="12700">
            <a:solidFill>
              <a:srgbClr val="7A0000"/>
            </a:solidFill>
            <a:prstDash val="solid"/>
          </a:ln>
        </p:spPr>
        <p:txBody>
          <a:bodyPr/>
          <a:lstStyle/>
          <a:p>
            <a:endParaRPr lang="fr-FR"/>
          </a:p>
        </p:txBody>
      </p:sp>
      <p:sp>
        <p:nvSpPr>
          <p:cNvPr id="68" name="Text 66"/>
          <p:cNvSpPr/>
          <p:nvPr/>
        </p:nvSpPr>
        <p:spPr>
          <a:xfrm>
            <a:off x="182880" y="4645152"/>
            <a:ext cx="8778240" cy="274320"/>
          </a:xfrm>
          <a:prstGeom prst="rect">
            <a:avLst/>
          </a:prstGeom>
          <a:noFill/>
          <a:ln/>
        </p:spPr>
        <p:txBody>
          <a:bodyPr wrap="square" lIns="0" tIns="0" rIns="0" bIns="0" rtlCol="0" anchor="ctr"/>
          <a:lstStyle/>
          <a:p>
            <a:pPr marL="0" indent="0" algn="ctr">
              <a:buNone/>
            </a:pPr>
            <a:r>
              <a:rPr lang="en-US" sz="900" kern="0" spc="200" dirty="0">
                <a:solidFill>
                  <a:srgbClr val="CC0000"/>
                </a:solidFill>
                <a:latin typeface="Arial" pitchFamily="34" charset="0"/>
                <a:ea typeface="Arial" pitchFamily="34" charset="-122"/>
                <a:cs typeface="Arial" pitchFamily="34" charset="-120"/>
              </a:rPr>
              <a:t>tunisiarealestate-ml.onrender.com  ·  github.com/Kirazul/TunisiaRealEstate_ML</a:t>
            </a:r>
            <a:endParaRPr lang="en-US" sz="900" dirty="0"/>
          </a:p>
        </p:txBody>
      </p:sp>
      <p:sp>
        <p:nvSpPr>
          <p:cNvPr id="69" name="Shape 67"/>
          <p:cNvSpPr/>
          <p:nvPr/>
        </p:nvSpPr>
        <p:spPr>
          <a:xfrm>
            <a:off x="0" y="5074920"/>
            <a:ext cx="9144000" cy="68580"/>
          </a:xfrm>
          <a:prstGeom prst="rect">
            <a:avLst/>
          </a:prstGeom>
          <a:solidFill>
            <a:srgbClr val="CC0000"/>
          </a:solidFill>
          <a:ln w="12700">
            <a:solidFill>
              <a:srgbClr val="CC0000"/>
            </a:solidFill>
            <a:prstDash val="solid"/>
          </a:ln>
        </p:spPr>
        <p:txBody>
          <a:bodyPr/>
          <a:lstStyle/>
          <a:p>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1558</Words>
  <Application>Microsoft Office PowerPoint</Application>
  <PresentationFormat>Affichage à l'écran (16:9)</PresentationFormat>
  <Paragraphs>205</Paragraphs>
  <Slides>8</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Arial Black</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Tunisia Real Estate Price Prediction System</dc:title>
  <dc:subject>PptxGenJS Presentation</dc:subject>
  <dc:creator>Kirazul</dc:creator>
  <cp:lastModifiedBy>kira star</cp:lastModifiedBy>
  <cp:revision>2</cp:revision>
  <dcterms:created xsi:type="dcterms:W3CDTF">2026-04-12T08:34:31Z</dcterms:created>
  <dcterms:modified xsi:type="dcterms:W3CDTF">2026-04-12T10:17:40Z</dcterms:modified>
</cp:coreProperties>
</file>